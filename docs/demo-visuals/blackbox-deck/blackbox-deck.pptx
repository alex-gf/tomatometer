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211b23c5-5411-0cc2-3f5f-385373c3c68d}">
          <p14:sldIdLst>
            <p14:sldId id="256"/>
          </p14:sldIdLst>
        </p14:section>
        <p14:section name="Black box" id="{7be7bc51-a8e8-a1f4-4cd3-d49f9f0b975e}">
          <p14:sldIdLst>
            <p14:sldId id="257"/>
          </p14:sldIdLst>
        </p14:section>
        <p14:section name="Black box (John, app, box)" id="{bc2217d2-65d8-71cf-8595-cb44b5c4c8c1}">
          <p14:sldIdLst>
            <p14:sldId id="258"/>
          </p14:sldIdLst>
        </p14:section>
        <p14:section name="Following the change" id="{5f554895-d57f-108e-1745-861efd61e715}">
          <p14:sldIdLst>
            <p14:sldId id="259"/>
          </p14:sldIdLst>
        </p14:section>
        <p14:section name="Inside the black box" id="{254cf311-859d-78f4-67b7-49fcfca37bd5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[Start] The idea behind our tool is pretty simple.
[Click 1] We've got a stakeholder, John, who usually has no technical knowledge, and who wants to apply certain changes to the pricing model of his software as a service — in this case TomatoMeter, a fictitious productivity app.
[Click 2] To John, our solution appears as a black box: a UI where he can change the pricing model.
[Click 3] On the other side, TomatoMeter as its users see it today: the Basic plan allows 3 pomodoros a day and has no daily summary.
[Click 4] John raises the limit to 5 pomodoros a day and includes the daily summary in Basic.
[Click 5] He publishes the new version.
[Click 6] And the behaviour of the app is immediately updated: the limit and the daily summary follow the new pricing.
[Click 7] If he adds or removes features or usage limits in a plan, the app reflects these changes automatically, almost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[Start] The idea behind our tool is pretty simple.
[Click 1] We've got a stakeholder, John, who usually has no technical knowledge...
[Click 2] ...and who wants to apply certain changes to the pricing of his software as a service — in this case TomatoMeter, a fictitious productivity app. Today its Basic plan allows 3 pomodoros a day and has no daily summary.
[Click 3] Between John and TomatoMeter sits our solution, which John sees as a black box: a UI where he can change the pricing model.
[Click 4] John raises the limit to 5 pomodoros a day and includes the daily summary in Basic.
[Click 5] He publishes the new version.
[Click 6] And the behaviour of the app is immediately updated: the limit and the daily summary follow the new pricing.
[Click 7] If he adds or removes features or usage limits in a plan, the app reflects these changes automatically, almost in real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[Start] Let's open the black box and follow John's change all the way to the screen.
[Click 1] Inside there are two components: SPHERE, where John edits the pricing, and SPACE. TomatoMeter has a frontend — the UI its users see — and a backend.
[Click 2] In SPHERE's editor, John gives Basic users 5 pomodoros a day and includes the daily summary...
[Click 3] ...and publishes it as a new version of the pricing, v1.2.
[Click 4] SPACE is the brain: it decides which features each user can access. It synchronizes with SPHERE through polling, with a configurable interval — every minute, every five minutes, and so on.
[Click 5] On the next poll, SPACE finds v1.2 and pulls it through SPHERE's public API as YAML, then validates it.
[Click 6] SPACE applies the required changes to the contracts of the users currently using the application: they move to v1.2.
[Click 7] Then it notifies the pricing change.
[Click 8] In our demo, SPACE is connected to the TomatoMeter UI and API through WebSockets. The backend now allows five pomodoros and the daily summary, and the UI updates on its own: no code changes, no redeploy.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[Start] Let's open the black box.
[Click 1] Our solution is mainly composed of two components: SPHERE and SPACE. TomatoMeter is split into its frontend and its backend.
[Click 2] SPHERE is the UI through which the stakeholder edits the pricing...
[Click 3] ...and releases a new version of it.
[Click 4] SPACE is, let's say, the brain: the logic that determines which features are available to each user. It synchronizes with SPHERE through a polling system whose interval can be configured — for example every minute, or every five minutes.
[Click 5] When a new version is found, SPACE downloads and validates it.
[Click 6] SPACE is in charge of applying all the required changes to the contracts of the users currently using the application.
[Click 7] Then it notifies the pricing change.
[Click 8] In our demo scenario, SPACE is connected to the TomatoMeter UI and the TomatoMeter API through WebSockets, so both update their behaviour without touching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1-title"/>
          <p:cNvSpPr txBox="1"/>
          <p:nvPr/>
        </p:nvSpPr>
        <p:spPr>
          <a:xfrm>
            <a:off x="3639312" y="2596896"/>
            <a:ext cx="5084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haroni" pitchFamily="34" charset="0"/>
                <a:ea typeface="Aharoni" pitchFamily="34" charset="-122"/>
                <a:cs typeface="Aharoni" pitchFamily="34" charset="-120"/>
              </a:rPr>
              <a:t>SPHERE x SPACE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2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2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2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2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2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2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2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2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2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2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2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2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2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2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2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2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2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2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2-20-editor-val-old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2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3" name="s2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4" name="s2-23-editor-val-old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400" dirty="0"/>
          </a:p>
        </p:txBody>
      </p:sp>
      <p:sp>
        <p:nvSpPr>
          <p:cNvPr id="25" name="s2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6" name="s2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2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2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9" name="s2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30" name="s2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31" name="s2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2" name="s2-31-publish-on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33" name="s2-32-publish-on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4" name="s2-33-published-pill"/>
          <p:cNvSpPr/>
          <p:nvPr/>
        </p:nvSpPr>
        <p:spPr>
          <a:xfrm>
            <a:off x="470916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5" name="s2-34-published-pill-label"/>
          <p:cNvSpPr txBox="1"/>
          <p:nvPr/>
        </p:nvSpPr>
        <p:spPr>
          <a:xfrm>
            <a:off x="4709160" y="2176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36" name="s2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7" name="s2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8" name="s2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9" name="s2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40" name="s2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41" name="s2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2" name="s2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43" name="s2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44" name="s2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45" name="s2-44-app-usage-new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pomodoros used</a:t>
            </a:r>
            <a:endParaRPr lang="en-US" sz="1300" dirty="0"/>
          </a:p>
        </p:txBody>
      </p:sp>
      <p:sp>
        <p:nvSpPr>
          <p:cNvPr id="46" name="s2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47" name="s2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48" name="s2-47-app-btn-new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9" name="s2-48-app-btn-new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 session</a:t>
            </a:r>
            <a:endParaRPr lang="en-US" sz="1300" dirty="0"/>
          </a:p>
        </p:txBody>
      </p:sp>
      <p:sp>
        <p:nvSpPr>
          <p:cNvPr id="50" name="s2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51" name="s2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52" name="s2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53" name="s2-52-summary-new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Basic</a:t>
            </a:r>
            <a:endParaRPr lang="en-US" sz="1000" dirty="0"/>
          </a:p>
        </p:txBody>
      </p:sp>
      <p:sp>
        <p:nvSpPr>
          <p:cNvPr id="54" name="s2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5" name="s2-54-bar-new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6" name="s2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7" name="s2-56-bar-new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8" name="s2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9" name="s2-58-bar-new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60" name="s2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61" name="s2-60-bar-new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62" name="s2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63" name="s2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  <p:sp>
        <p:nvSpPr>
          <p:cNvPr id="64" name="s2-63-app-updated"/>
          <p:cNvSpPr/>
          <p:nvPr/>
        </p:nvSpPr>
        <p:spPr>
          <a:xfrm>
            <a:off x="9829800" y="48006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65" name="s2-64-app-updated-label"/>
          <p:cNvSpPr txBox="1"/>
          <p:nvPr/>
        </p:nvSpPr>
        <p:spPr>
          <a:xfrm>
            <a:off x="9829800" y="4800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PRICING UPDATED</a:t>
            </a:r>
            <a:endParaRPr lang="en-US" sz="1000" dirty="0"/>
          </a:p>
        </p:txBody>
      </p:sp>
      <p:sp>
        <p:nvSpPr>
          <p:cNvPr id="66" name="s2-65-takeaway"/>
          <p:cNvSpPr txBox="1"/>
          <p:nvPr/>
        </p:nvSpPr>
        <p:spPr>
          <a:xfrm>
            <a:off x="548640" y="610819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changes  ·  no redeploy  ·  the app adapts almost in real time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4" grpId="1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4" grpId="1" animBg="1"/>
      <p:bldP spid="45" grpId="0" animBg="1"/>
      <p:bldP spid="46" grpId="0" animBg="1"/>
      <p:bldP spid="46" grpId="1" animBg="1"/>
      <p:bldP spid="47" grpId="0" animBg="1"/>
      <p:bldP spid="47" grpId="1" animBg="1"/>
      <p:bldP spid="48" grpId="0" animBg="1"/>
      <p:bldP spid="49" grpId="0" animBg="1"/>
      <p:bldP spid="50" grpId="0" animBg="1"/>
      <p:bldP spid="51" grpId="0" animBg="1"/>
      <p:bldP spid="52" grpId="0" animBg="1"/>
      <p:bldP spid="52" grpId="1" animBg="1"/>
      <p:bldP spid="53" grpId="0" animBg="1"/>
      <p:bldP spid="54" grpId="0" animBg="1"/>
      <p:bldP spid="54" grpId="1" animBg="1"/>
      <p:bldP spid="55" grpId="0" animBg="1"/>
      <p:bldP spid="56" grpId="0" animBg="1"/>
      <p:bldP spid="56" grpId="1" animBg="1"/>
      <p:bldP spid="57" grpId="0" animBg="1"/>
      <p:bldP spid="58" grpId="0" animBg="1"/>
      <p:bldP spid="58" grpId="1" animBg="1"/>
      <p:bldP spid="59" grpId="0" animBg="1"/>
      <p:bldP spid="60" grpId="0" animBg="1"/>
      <p:bldP spid="60" grpId="1" animBg="1"/>
      <p:bldP spid="61" grpId="0" animBg="1"/>
      <p:bldP spid="62" grpId="0" animBg="1"/>
      <p:bldP spid="62" grpId="1" animBg="1"/>
      <p:bldP spid="64" grpId="0" animBg="1"/>
      <p:bldP spid="65" grpId="0" animBg="1"/>
      <p:bldP spid="6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3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3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3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3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3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3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3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3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3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3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3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3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3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3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3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3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3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3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3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3-20-editor-val-old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3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3" name="s3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4" name="s3-23-editor-val-old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400" dirty="0"/>
          </a:p>
        </p:txBody>
      </p:sp>
      <p:sp>
        <p:nvSpPr>
          <p:cNvPr id="25" name="s3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6" name="s3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3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s3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9" name="s3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30" name="s3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31" name="s3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2" name="s3-31-publish-on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33" name="s3-32-publish-on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4" name="s3-33-published-pill"/>
          <p:cNvSpPr/>
          <p:nvPr/>
        </p:nvSpPr>
        <p:spPr>
          <a:xfrm>
            <a:off x="470916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5" name="s3-34-published-pill-label"/>
          <p:cNvSpPr txBox="1"/>
          <p:nvPr/>
        </p:nvSpPr>
        <p:spPr>
          <a:xfrm>
            <a:off x="4709160" y="2176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36" name="s3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7" name="s3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8" name="s3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9" name="s3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40" name="s3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41" name="s3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2" name="s3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43" name="s3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44" name="s3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45" name="s3-44-app-usage-new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pomodoros used</a:t>
            </a:r>
            <a:endParaRPr lang="en-US" sz="1300" dirty="0"/>
          </a:p>
        </p:txBody>
      </p:sp>
      <p:sp>
        <p:nvSpPr>
          <p:cNvPr id="46" name="s3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47" name="s3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48" name="s3-47-app-btn-new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9" name="s3-48-app-btn-new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 session</a:t>
            </a:r>
            <a:endParaRPr lang="en-US" sz="1300" dirty="0"/>
          </a:p>
        </p:txBody>
      </p:sp>
      <p:sp>
        <p:nvSpPr>
          <p:cNvPr id="50" name="s3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51" name="s3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52" name="s3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53" name="s3-52-summary-new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Basic</a:t>
            </a:r>
            <a:endParaRPr lang="en-US" sz="1000" dirty="0"/>
          </a:p>
        </p:txBody>
      </p:sp>
      <p:sp>
        <p:nvSpPr>
          <p:cNvPr id="54" name="s3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5" name="s3-54-bar-new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6" name="s3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7" name="s3-56-bar-new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8" name="s3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9" name="s3-58-bar-new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60" name="s3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61" name="s3-60-bar-new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62" name="s3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63" name="s3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  <p:sp>
        <p:nvSpPr>
          <p:cNvPr id="64" name="s3-63-app-updated"/>
          <p:cNvSpPr/>
          <p:nvPr/>
        </p:nvSpPr>
        <p:spPr>
          <a:xfrm>
            <a:off x="9829800" y="48006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65" name="s3-64-app-updated-label"/>
          <p:cNvSpPr txBox="1"/>
          <p:nvPr/>
        </p:nvSpPr>
        <p:spPr>
          <a:xfrm>
            <a:off x="9829800" y="4800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PRICING UPDATED</a:t>
            </a:r>
            <a:endParaRPr lang="en-US" sz="1000" dirty="0"/>
          </a:p>
        </p:txBody>
      </p:sp>
      <p:sp>
        <p:nvSpPr>
          <p:cNvPr id="66" name="s3-65-takeaway"/>
          <p:cNvSpPr txBox="1"/>
          <p:nvPr/>
        </p:nvSpPr>
        <p:spPr>
          <a:xfrm>
            <a:off x="548640" y="610819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changes  ·  no redeploy  ·  the app adapts almost in real time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2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22" presetClass="entr" presetSubtype="4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22" presetClass="entr" presetSubtype="4" fill="hold" grpId="0" nodeType="withEffect">
                                  <p:stCondLst>
                                    <p:cond delay="54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22" presetClass="entr" presetSubtype="4" fill="hold" grpId="0" nodeType="withEffect">
                                  <p:stCondLst>
                                    <p:cond delay="66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1" grpId="1" animBg="1"/>
      <p:bldP spid="22" grpId="0" animBg="1"/>
      <p:bldP spid="23" grpId="0" animBg="1"/>
      <p:bldP spid="24" grpId="0" animBg="1"/>
      <p:bldP spid="24" grpId="1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4" grpId="1" animBg="1"/>
      <p:bldP spid="45" grpId="0" animBg="1"/>
      <p:bldP spid="46" grpId="0" animBg="1"/>
      <p:bldP spid="46" grpId="1" animBg="1"/>
      <p:bldP spid="47" grpId="0" animBg="1"/>
      <p:bldP spid="47" grpId="1" animBg="1"/>
      <p:bldP spid="48" grpId="0" animBg="1"/>
      <p:bldP spid="49" grpId="0" animBg="1"/>
      <p:bldP spid="50" grpId="0" animBg="1"/>
      <p:bldP spid="51" grpId="0" animBg="1"/>
      <p:bldP spid="52" grpId="0" animBg="1"/>
      <p:bldP spid="52" grpId="1" animBg="1"/>
      <p:bldP spid="53" grpId="0" animBg="1"/>
      <p:bldP spid="54" grpId="0" animBg="1"/>
      <p:bldP spid="54" grpId="1" animBg="1"/>
      <p:bldP spid="55" grpId="0" animBg="1"/>
      <p:bldP spid="56" grpId="0" animBg="1"/>
      <p:bldP spid="56" grpId="1" animBg="1"/>
      <p:bldP spid="57" grpId="0" animBg="1"/>
      <p:bldP spid="58" grpId="0" animBg="1"/>
      <p:bldP spid="58" grpId="1" animBg="1"/>
      <p:bldP spid="59" grpId="0" animBg="1"/>
      <p:bldP spid="60" grpId="0" animBg="1"/>
      <p:bldP spid="60" grpId="1" animBg="1"/>
      <p:bldP spid="61" grpId="0" animBg="1"/>
      <p:bldP spid="62" grpId="0" animBg="1"/>
      <p:bldP spid="62" grpId="1" animBg="1"/>
      <p:bldP spid="64" grpId="0" animBg="1"/>
      <p:bldP spid="65" grpId="0" animBg="1"/>
      <p:bldP spid="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6-arrow-john-box"/>
          <p:cNvSpPr/>
          <p:nvPr/>
        </p:nvSpPr>
        <p:spPr>
          <a:xfrm>
            <a:off x="1892808" y="1133856"/>
            <a:ext cx="0" cy="17373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" name="s4-7-blackbox"/>
          <p:cNvSpPr/>
          <p:nvPr/>
        </p:nvSpPr>
        <p:spPr>
          <a:xfrm>
            <a:off x="320040" y="1325880"/>
            <a:ext cx="7178040" cy="5257800"/>
          </a:xfrm>
          <a:prstGeom prst="roundRect">
            <a:avLst>
              <a:gd name="adj" fmla="val 2783"/>
            </a:avLst>
          </a:prstGeom>
          <a:solidFill>
            <a:srgbClr val="1D1D1F"/>
          </a:solidFill>
          <a:ln w="15875">
            <a:solidFill>
              <a:srgbClr val="1D1D1F"/>
            </a:solidFill>
            <a:prstDash val="solid"/>
          </a:ln>
        </p:spPr>
      </p:sp>
      <p:sp>
        <p:nvSpPr>
          <p:cNvPr id="9" name="s4-8-blackbox-label"/>
          <p:cNvSpPr txBox="1"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0" name="s4-9-blackbox-q"/>
          <p:cNvSpPr txBox="1"/>
          <p:nvPr/>
        </p:nvSpPr>
        <p:spPr>
          <a:xfrm>
            <a:off x="320040" y="3200400"/>
            <a:ext cx="7178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11" name="s4-10-arrow-box-tm"/>
          <p:cNvSpPr/>
          <p:nvPr/>
        </p:nvSpPr>
        <p:spPr>
          <a:xfrm>
            <a:off x="7516368" y="3931920"/>
            <a:ext cx="420624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2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13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14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5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6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7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8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9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20" name="s4-19-ui-usage-new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pomodoros used</a:t>
            </a:r>
            <a:endParaRPr lang="en-US" sz="1100" dirty="0"/>
          </a:p>
        </p:txBody>
      </p:sp>
      <p:sp>
        <p:nvSpPr>
          <p:cNvPr id="21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22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23" name="s4-22-ui-btn-new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B8432F"/>
          </a:solidFill>
          <a:ln w="15875">
            <a:solidFill>
              <a:srgbClr val="B8432F"/>
            </a:solidFill>
            <a:prstDash val="solid"/>
          </a:ln>
        </p:spPr>
      </p:sp>
      <p:sp>
        <p:nvSpPr>
          <p:cNvPr id="24" name="s4-23-ui-btn-new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 session</a:t>
            </a:r>
            <a:endParaRPr lang="en-US" sz="1100" dirty="0"/>
          </a:p>
        </p:txBody>
      </p:sp>
      <p:sp>
        <p:nvSpPr>
          <p:cNvPr id="25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26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27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8" name="s4-27-ui-summary-new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Basic</a:t>
            </a:r>
            <a:endParaRPr lang="en-US" sz="900" dirty="0"/>
          </a:p>
        </p:txBody>
      </p:sp>
      <p:sp>
        <p:nvSpPr>
          <p:cNvPr id="29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30" name="s4-29-ui-bar-new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1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32" name="s4-31-ui-bar-new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3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34" name="s4-33-ui-bar-new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5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36" name="s4-35-ui-bar-new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7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38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  <p:sp>
        <p:nvSpPr>
          <p:cNvPr id="39" name="s4-38-ui-updated"/>
          <p:cNvSpPr txBox="1"/>
          <p:nvPr/>
        </p:nvSpPr>
        <p:spPr>
          <a:xfrm>
            <a:off x="10058400" y="4379976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PRICING UPDATED</a:t>
            </a:r>
            <a:endParaRPr lang="en-US" sz="900" dirty="0"/>
          </a:p>
        </p:txBody>
      </p:sp>
      <p:sp>
        <p:nvSpPr>
          <p:cNvPr id="40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41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42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43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44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45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46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47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48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49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50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51" name="s4-50-backend-limit-old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3 pomodoros / day</a:t>
            </a:r>
            <a:endParaRPr lang="en-US" sz="1100" dirty="0"/>
          </a:p>
        </p:txBody>
      </p:sp>
      <p:sp>
        <p:nvSpPr>
          <p:cNvPr id="52" name="s4-51-backend-summary-old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locked</a:t>
            </a:r>
            <a:endParaRPr lang="en-US" sz="1100" dirty="0"/>
          </a:p>
        </p:txBody>
      </p:sp>
      <p:sp>
        <p:nvSpPr>
          <p:cNvPr id="53" name="s4-52-backend-limit-new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5 pomodoros / day</a:t>
            </a:r>
            <a:endParaRPr lang="en-US" sz="1100" dirty="0"/>
          </a:p>
        </p:txBody>
      </p:sp>
      <p:sp>
        <p:nvSpPr>
          <p:cNvPr id="54" name="s4-53-backend-summary-new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enabled</a:t>
            </a:r>
            <a:endParaRPr lang="en-US" sz="1100" dirty="0"/>
          </a:p>
        </p:txBody>
      </p:sp>
      <p:sp>
        <p:nvSpPr>
          <p:cNvPr id="55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56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57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58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59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60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61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62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63" name="s4-62-editor-val-old"/>
          <p:cNvSpPr txBox="1"/>
          <p:nvPr/>
        </p:nvSpPr>
        <p:spPr>
          <a:xfrm>
            <a:off x="2331720" y="2926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64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65" name="s4-64-editor-val-new"/>
          <p:cNvSpPr txBox="1"/>
          <p:nvPr/>
        </p:nvSpPr>
        <p:spPr>
          <a:xfrm>
            <a:off x="2331720" y="29535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6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67" name="s4-66-editor-val-old"/>
          <p:cNvSpPr txBox="1"/>
          <p:nvPr/>
        </p:nvSpPr>
        <p:spPr>
          <a:xfrm>
            <a:off x="2331720" y="33192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200" dirty="0"/>
          </a:p>
        </p:txBody>
      </p:sp>
      <p:sp>
        <p:nvSpPr>
          <p:cNvPr id="68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69" name="s4-68-editor-val-new"/>
          <p:cNvSpPr txBox="1"/>
          <p:nvPr/>
        </p:nvSpPr>
        <p:spPr>
          <a:xfrm>
            <a:off x="2331720" y="33467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70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71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72" name="s4-71-arrow-john-editor"/>
          <p:cNvSpPr/>
          <p:nvPr/>
        </p:nvSpPr>
        <p:spPr>
          <a:xfrm>
            <a:off x="1892808" y="1133856"/>
            <a:ext cx="0" cy="95097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73" name="s4-72-badge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4" name="s4-73-badge-n"/>
          <p:cNvSpPr txBox="1"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5" name="s4-74-publish-on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76" name="s4-75-publish-on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77" name="s4-76-published"/>
          <p:cNvSpPr txBox="1"/>
          <p:nvPr/>
        </p:nvSpPr>
        <p:spPr>
          <a:xfrm>
            <a:off x="2286000" y="2167128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800" dirty="0"/>
          </a:p>
        </p:txBody>
      </p:sp>
      <p:sp>
        <p:nvSpPr>
          <p:cNvPr id="78" name="s4-77-arrow-publish"/>
          <p:cNvSpPr/>
          <p:nvPr/>
        </p:nvSpPr>
        <p:spPr>
          <a:xfrm>
            <a:off x="1892808" y="4389120"/>
            <a:ext cx="0" cy="43891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79" name="s4-78-lbl"/>
          <p:cNvSpPr txBox="1"/>
          <p:nvPr/>
        </p:nvSpPr>
        <p:spPr>
          <a:xfrm>
            <a:off x="2066087" y="4489704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80" name="s4-79-history"/>
          <p:cNvSpPr/>
          <p:nvPr/>
        </p:nvSpPr>
        <p:spPr>
          <a:xfrm>
            <a:off x="502920" y="48463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81" name="s4-80-history-title"/>
          <p:cNvSpPr txBox="1"/>
          <p:nvPr/>
        </p:nvSpPr>
        <p:spPr>
          <a:xfrm>
            <a:off x="5029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82" name="s4-81-version"/>
          <p:cNvSpPr/>
          <p:nvPr/>
        </p:nvSpPr>
        <p:spPr>
          <a:xfrm>
            <a:off x="685800" y="5303520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83" name="s4-82-version-label"/>
          <p:cNvSpPr txBox="1"/>
          <p:nvPr/>
        </p:nvSpPr>
        <p:spPr>
          <a:xfrm>
            <a:off x="795528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100" dirty="0"/>
          </a:p>
        </p:txBody>
      </p:sp>
      <p:sp>
        <p:nvSpPr>
          <p:cNvPr id="84" name="s4-83-version"/>
          <p:cNvSpPr/>
          <p:nvPr/>
        </p:nvSpPr>
        <p:spPr>
          <a:xfrm>
            <a:off x="685800" y="5650992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85" name="s4-84-version-label"/>
          <p:cNvSpPr txBox="1"/>
          <p:nvPr/>
        </p:nvSpPr>
        <p:spPr>
          <a:xfrm>
            <a:off x="795528" y="5650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100" dirty="0"/>
          </a:p>
        </p:txBody>
      </p:sp>
      <p:sp>
        <p:nvSpPr>
          <p:cNvPr id="86" name="s4-85-version-new"/>
          <p:cNvSpPr/>
          <p:nvPr/>
        </p:nvSpPr>
        <p:spPr>
          <a:xfrm>
            <a:off x="685800" y="5998464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87" name="s4-86-version-new-label"/>
          <p:cNvSpPr txBox="1"/>
          <p:nvPr/>
        </p:nvSpPr>
        <p:spPr>
          <a:xfrm>
            <a:off x="795528" y="5998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88" name="s4-87-version-new-tag"/>
          <p:cNvSpPr txBox="1"/>
          <p:nvPr/>
        </p:nvSpPr>
        <p:spPr>
          <a:xfrm>
            <a:off x="2377440" y="5998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89" name="s4-88-badge"/>
          <p:cNvSpPr/>
          <p:nvPr/>
        </p:nvSpPr>
        <p:spPr>
          <a:xfrm>
            <a:off x="36576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0" name="s4-89-badge-n"/>
          <p:cNvSpPr txBox="1"/>
          <p:nvPr/>
        </p:nvSpPr>
        <p:spPr>
          <a:xfrm>
            <a:off x="3657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91" name="s4-90-sync"/>
          <p:cNvSpPr/>
          <p:nvPr/>
        </p:nvSpPr>
        <p:spPr>
          <a:xfrm>
            <a:off x="4389120" y="21031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92" name="s4-91-sync-title"/>
          <p:cNvSpPr txBox="1"/>
          <p:nvPr/>
        </p:nvSpPr>
        <p:spPr>
          <a:xfrm>
            <a:off x="43891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400" dirty="0"/>
          </a:p>
        </p:txBody>
      </p:sp>
      <p:sp>
        <p:nvSpPr>
          <p:cNvPr id="93" name="s4-92-sync-sub"/>
          <p:cNvSpPr txBox="1"/>
          <p:nvPr/>
        </p:nvSpPr>
        <p:spPr>
          <a:xfrm>
            <a:off x="4389120" y="2487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100" dirty="0"/>
          </a:p>
        </p:txBody>
      </p:sp>
      <p:sp>
        <p:nvSpPr>
          <p:cNvPr id="94" name="s4-93-arrow-poll"/>
          <p:cNvSpPr/>
          <p:nvPr/>
        </p:nvSpPr>
        <p:spPr>
          <a:xfrm>
            <a:off x="3639312" y="245059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95" name="s4-94-lbl"/>
          <p:cNvSpPr txBox="1"/>
          <p:nvPr/>
        </p:nvSpPr>
        <p:spPr>
          <a:xfrm>
            <a:off x="3789274" y="2130552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96" name="s4-95-badge"/>
          <p:cNvSpPr/>
          <p:nvPr/>
        </p:nvSpPr>
        <p:spPr>
          <a:xfrm>
            <a:off x="42519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7" name="s4-96-badge-n"/>
          <p:cNvSpPr txBox="1"/>
          <p:nvPr/>
        </p:nvSpPr>
        <p:spPr>
          <a:xfrm>
            <a:off x="42519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98" name="s4-97-token-yaml"/>
          <p:cNvSpPr txBox="1"/>
          <p:nvPr/>
        </p:nvSpPr>
        <p:spPr>
          <a:xfrm>
            <a:off x="1389888" y="599846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 · YAML</a:t>
            </a:r>
            <a:endParaRPr lang="en-US" sz="1000" dirty="0"/>
          </a:p>
        </p:txBody>
      </p:sp>
      <p:sp>
        <p:nvSpPr>
          <p:cNvPr id="99" name="s4-98-arrow-new-version"/>
          <p:cNvSpPr/>
          <p:nvPr/>
        </p:nvSpPr>
        <p:spPr>
          <a:xfrm>
            <a:off x="3639312" y="345643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00" name="s4-99-lbl"/>
          <p:cNvSpPr txBox="1"/>
          <p:nvPr/>
        </p:nvSpPr>
        <p:spPr>
          <a:xfrm>
            <a:off x="3716122" y="3154680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1100" dirty="0"/>
          </a:p>
        </p:txBody>
      </p:sp>
      <p:sp>
        <p:nvSpPr>
          <p:cNvPr id="101" name="s4-100-lbl"/>
          <p:cNvSpPr txBox="1"/>
          <p:nvPr/>
        </p:nvSpPr>
        <p:spPr>
          <a:xfrm>
            <a:off x="3716122" y="353872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102" name="s4-101-import"/>
          <p:cNvSpPr/>
          <p:nvPr/>
        </p:nvSpPr>
        <p:spPr>
          <a:xfrm>
            <a:off x="4389120" y="31089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103" name="s4-102-import-title"/>
          <p:cNvSpPr txBox="1"/>
          <p:nvPr/>
        </p:nvSpPr>
        <p:spPr>
          <a:xfrm>
            <a:off x="43891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400" dirty="0"/>
          </a:p>
        </p:txBody>
      </p:sp>
      <p:sp>
        <p:nvSpPr>
          <p:cNvPr id="104" name="s4-103-import-sub"/>
          <p:cNvSpPr txBox="1"/>
          <p:nvPr/>
        </p:nvSpPr>
        <p:spPr>
          <a:xfrm>
            <a:off x="4389120" y="3493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100" dirty="0"/>
          </a:p>
        </p:txBody>
      </p:sp>
      <p:sp>
        <p:nvSpPr>
          <p:cNvPr id="105" name="s4-104-badge"/>
          <p:cNvSpPr/>
          <p:nvPr/>
        </p:nvSpPr>
        <p:spPr>
          <a:xfrm>
            <a:off x="4251960" y="297180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6" name="s4-105-badge-n"/>
          <p:cNvSpPr txBox="1"/>
          <p:nvPr/>
        </p:nvSpPr>
        <p:spPr>
          <a:xfrm>
            <a:off x="42519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7" name="s4-106-arrow-import-migration"/>
          <p:cNvSpPr/>
          <p:nvPr/>
        </p:nvSpPr>
        <p:spPr>
          <a:xfrm>
            <a:off x="5852160" y="3794760"/>
            <a:ext cx="0" cy="30175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08" name="s4-107-migration"/>
          <p:cNvSpPr/>
          <p:nvPr/>
        </p:nvSpPr>
        <p:spPr>
          <a:xfrm>
            <a:off x="4389120" y="41148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109" name="s4-108-migration-title"/>
          <p:cNvSpPr txBox="1"/>
          <p:nvPr/>
        </p:nvSpPr>
        <p:spPr>
          <a:xfrm>
            <a:off x="43891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migration</a:t>
            </a:r>
            <a:endParaRPr lang="en-US" sz="1400" dirty="0"/>
          </a:p>
        </p:txBody>
      </p:sp>
      <p:sp>
        <p:nvSpPr>
          <p:cNvPr id="110" name="s4-109-migration-sub"/>
          <p:cNvSpPr txBox="1"/>
          <p:nvPr/>
        </p:nvSpPr>
        <p:spPr>
          <a:xfrm>
            <a:off x="4389120" y="44988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configured policy</a:t>
            </a:r>
            <a:endParaRPr lang="en-US" sz="1100" dirty="0"/>
          </a:p>
        </p:txBody>
      </p:sp>
      <p:sp>
        <p:nvSpPr>
          <p:cNvPr id="111" name="s4-110-migration-contracts"/>
          <p:cNvSpPr txBox="1"/>
          <p:nvPr/>
        </p:nvSpPr>
        <p:spPr>
          <a:xfrm>
            <a:off x="46177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contracts</a:t>
            </a:r>
            <a:endParaRPr lang="en-US" sz="1100" dirty="0"/>
          </a:p>
        </p:txBody>
      </p:sp>
      <p:sp>
        <p:nvSpPr>
          <p:cNvPr id="112" name="s4-111-contract-old"/>
          <p:cNvSpPr txBox="1"/>
          <p:nvPr/>
        </p:nvSpPr>
        <p:spPr>
          <a:xfrm>
            <a:off x="6263640" y="4846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2F2F4"/>
          </a:solidFill>
          <a:ln w="12700">
            <a:solidFill>
              <a:srgbClr val="F2F2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100" dirty="0"/>
          </a:p>
        </p:txBody>
      </p:sp>
      <p:sp>
        <p:nvSpPr>
          <p:cNvPr id="113" name="s4-112-contract-new"/>
          <p:cNvSpPr txBox="1"/>
          <p:nvPr/>
        </p:nvSpPr>
        <p:spPr>
          <a:xfrm>
            <a:off x="6263640" y="4846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114" name="s4-113-badge"/>
          <p:cNvSpPr/>
          <p:nvPr/>
        </p:nvSpPr>
        <p:spPr>
          <a:xfrm>
            <a:off x="4251960" y="397764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5" name="s4-114-badge-n"/>
          <p:cNvSpPr txBox="1"/>
          <p:nvPr/>
        </p:nvSpPr>
        <p:spPr>
          <a:xfrm>
            <a:off x="425196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16" name="s4-115-arrow-migration-events"/>
          <p:cNvSpPr/>
          <p:nvPr/>
        </p:nvSpPr>
        <p:spPr>
          <a:xfrm>
            <a:off x="5852160" y="5303520"/>
            <a:ext cx="0" cy="34747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17" name="s4-116-events"/>
          <p:cNvSpPr/>
          <p:nvPr/>
        </p:nvSpPr>
        <p:spPr>
          <a:xfrm>
            <a:off x="4389120" y="566928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118" name="s4-117-events-title"/>
          <p:cNvSpPr txBox="1"/>
          <p:nvPr/>
        </p:nvSpPr>
        <p:spPr>
          <a:xfrm>
            <a:off x="438912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service</a:t>
            </a:r>
            <a:endParaRPr lang="en-US" sz="1400" dirty="0"/>
          </a:p>
        </p:txBody>
      </p:sp>
      <p:sp>
        <p:nvSpPr>
          <p:cNvPr id="119" name="s4-118-events-sub"/>
          <p:cNvSpPr txBox="1"/>
          <p:nvPr/>
        </p:nvSpPr>
        <p:spPr>
          <a:xfrm>
            <a:off x="4389120" y="60533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notifies pricing changes</a:t>
            </a:r>
            <a:endParaRPr lang="en-US" sz="1100" dirty="0"/>
          </a:p>
        </p:txBody>
      </p:sp>
      <p:sp>
        <p:nvSpPr>
          <p:cNvPr id="120" name="s4-119-badge"/>
          <p:cNvSpPr/>
          <p:nvPr/>
        </p:nvSpPr>
        <p:spPr>
          <a:xfrm>
            <a:off x="4251960" y="553212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1" name="s4-120-badge-n"/>
          <p:cNvSpPr txBox="1"/>
          <p:nvPr/>
        </p:nvSpPr>
        <p:spPr>
          <a:xfrm>
            <a:off x="4251960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22" name="s4-121-ws-1"/>
          <p:cNvSpPr/>
          <p:nvPr/>
        </p:nvSpPr>
        <p:spPr>
          <a:xfrm>
            <a:off x="7315200" y="6016752"/>
            <a:ext cx="443484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</a:ln>
        </p:spPr>
      </p:sp>
      <p:sp>
        <p:nvSpPr>
          <p:cNvPr id="123" name="s4-122-ws-2"/>
          <p:cNvSpPr/>
          <p:nvPr/>
        </p:nvSpPr>
        <p:spPr>
          <a:xfrm>
            <a:off x="11750040" y="3401568"/>
            <a:ext cx="0" cy="2615184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</a:ln>
        </p:spPr>
      </p:sp>
      <p:sp>
        <p:nvSpPr>
          <p:cNvPr id="124" name="s4-123-ws-3"/>
          <p:cNvSpPr/>
          <p:nvPr/>
        </p:nvSpPr>
        <p:spPr>
          <a:xfrm>
            <a:off x="11539728" y="3401568"/>
            <a:ext cx="210312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125" name="s4-124-ws-dot"/>
          <p:cNvSpPr/>
          <p:nvPr/>
        </p:nvSpPr>
        <p:spPr>
          <a:xfrm>
            <a:off x="9784080" y="5971032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26" name="s4-125-ws-backend"/>
          <p:cNvSpPr/>
          <p:nvPr/>
        </p:nvSpPr>
        <p:spPr>
          <a:xfrm>
            <a:off x="9829800" y="5733288"/>
            <a:ext cx="0" cy="283464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127" name="s4-126-lbl"/>
          <p:cNvSpPr txBox="1"/>
          <p:nvPr/>
        </p:nvSpPr>
        <p:spPr>
          <a:xfrm>
            <a:off x="8031175" y="5897880"/>
            <a:ext cx="1494130" cy="237744"/>
          </a:xfrm>
          <a:prstGeom prst="rect">
            <a:avLst/>
          </a:prstGeom>
          <a:solidFill>
            <a:srgbClr val="EAF6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(WebSocket)</a:t>
            </a:r>
            <a:endParaRPr lang="en-US" sz="1100" dirty="0"/>
          </a:p>
        </p:txBody>
      </p:sp>
      <p:sp>
        <p:nvSpPr>
          <p:cNvPr id="128" name="s4-127-token-event-api"/>
          <p:cNvSpPr txBox="1"/>
          <p:nvPr/>
        </p:nvSpPr>
        <p:spPr>
          <a:xfrm>
            <a:off x="7351776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 w="12700">
            <a:solidFill>
              <a:srgbClr val="1D1D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00" dirty="0"/>
          </a:p>
        </p:txBody>
      </p:sp>
      <p:sp>
        <p:nvSpPr>
          <p:cNvPr id="129" name="s4-128-token-event-ui"/>
          <p:cNvSpPr txBox="1"/>
          <p:nvPr/>
        </p:nvSpPr>
        <p:spPr>
          <a:xfrm>
            <a:off x="7351776" y="5907024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1D1D1F"/>
          </a:solidFill>
          <a:ln w="12700">
            <a:solidFill>
              <a:srgbClr val="1D1D1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00" dirty="0"/>
          </a:p>
        </p:txBody>
      </p:sp>
      <p:sp>
        <p:nvSpPr>
          <p:cNvPr id="130" name="s4-129-badge"/>
          <p:cNvSpPr/>
          <p:nvPr/>
        </p:nvSpPr>
        <p:spPr>
          <a:xfrm>
            <a:off x="800100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1" name="s4-130-badge-n"/>
          <p:cNvSpPr txBox="1"/>
          <p:nvPr/>
        </p:nvSpPr>
        <p:spPr>
          <a:xfrm>
            <a:off x="80010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32" name="s4-131-badge"/>
          <p:cNvSpPr/>
          <p:nvPr/>
        </p:nvSpPr>
        <p:spPr>
          <a:xfrm>
            <a:off x="8001000" y="214884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3" name="s4-132-badge-n"/>
          <p:cNvSpPr txBox="1"/>
          <p:nvPr/>
        </p:nvSpPr>
        <p:spPr>
          <a:xfrm>
            <a:off x="80010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6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2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1328 0.0000 L 0.1328 -0.3907 L 0.2498 -0.3907 E" pathEditMode="relative">
                                      <p:cBhvr>
                                        <p:cTn id="206" dur="18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4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xit" presetSubtype="0" fill="hold" grpId="2" nodeType="withEffect">
                                  <p:stCondLst>
                                    <p:cond delay="19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3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205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xit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0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0" dur="9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6" dur="15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9" dur="15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0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1800 0.0000 L 0.1800 -0.0533 E" pathEditMode="relative">
                                      <p:cBhvr>
                                        <p:cTn id="301" dur="6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2" presetID="0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3375 0.0000 L 0.3375 -0.3813 E" pathEditMode="relative">
                                      <p:cBhvr>
                                        <p:cTn id="303" dur="145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22" presetClass="entr" presetSubtype="4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9" dur="15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grpId="2" nodeType="withEffect">
                                  <p:stCondLst>
                                    <p:cond delay="6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2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0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1" presetID="22" presetClass="entr" presetSubtype="4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3" dur="5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4" presetID="22" presetClass="entr" presetSubtype="2" fill="hold" grpId="0" nodeType="withEffect">
                                  <p:stCondLst>
                                    <p:cond delay="1450"/>
                                  </p:stCondLst>
                                  <p:childTnLst>
                                    <p:set>
                                      <p:cBhvr>
                                        <p:cTn id="3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6" dur="1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2" nodeType="withEffect">
                                  <p:stCondLst>
                                    <p:cond delay="14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2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6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9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2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5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8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7" presetID="10" presetClass="exit" presetSubtype="0" fill="hold" grpId="0" nodeType="withEffect">
                                  <p:stCondLst>
                                    <p:cond delay="15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2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4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8" presetID="22" presetClass="entr" presetSubtype="4" fill="hold" grpId="0" nodeType="withEffect">
                                  <p:stCondLst>
                                    <p:cond delay="1650"/>
                                  </p:stCondLst>
                                  <p:childTnLst>
                                    <p:set>
                                      <p:cBhvr>
                                        <p:cTn id="3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1" presetID="22" presetClass="entr" presetSubtype="4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4" presetID="22" presetClass="entr" presetSubtype="4" fill="hold" grpId="0" nodeType="withEffect">
                                  <p:stCondLst>
                                    <p:cond delay="1850"/>
                                  </p:stCondLst>
                                  <p:childTnLst>
                                    <p:set>
                                      <p:cBhvr>
                                        <p:cTn id="3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7" presetID="10" presetClass="entr" presetSubtype="0" fill="hold" grpId="0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3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0" presetID="22" presetClass="entr" presetSubtype="4" fill="hold" grpId="0" nodeType="withEffect">
                                  <p:stCondLst>
                                    <p:cond delay="195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1" grpId="1" animBg="1"/>
      <p:bldP spid="52" grpId="0" animBg="1"/>
      <p:bldP spid="52" grpId="1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3" grpId="1" animBg="1"/>
      <p:bldP spid="64" grpId="0" animBg="1"/>
      <p:bldP spid="65" grpId="0" animBg="1"/>
      <p:bldP spid="66" grpId="0" animBg="1"/>
      <p:bldP spid="67" grpId="0" animBg="1"/>
      <p:bldP spid="67" grpId="1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8" grpId="1" animBg="1"/>
      <p:bldP spid="98" grpId="2" animBg="1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6" grpId="0" animBg="1"/>
      <p:bldP spid="107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2" grpId="1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0" grpId="0" animBg="1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8" grpId="1" animBg="1"/>
      <p:bldP spid="128" grpId="2" animBg="1"/>
      <p:bldP spid="129" grpId="0" animBg="1"/>
      <p:bldP spid="129" grpId="1" animBg="1"/>
      <p:bldP spid="129" grpId="2" animBg="1"/>
      <p:bldP spid="130" grpId="0" animBg="1"/>
      <p:bldP spid="131" grpId="0" animBg="1"/>
      <p:bldP spid="132" grpId="0" animBg="1"/>
      <p:bldP spid="1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6-arrow"/>
          <p:cNvSpPr/>
          <p:nvPr/>
        </p:nvSpPr>
        <p:spPr>
          <a:xfrm>
            <a:off x="2414199" y="1623060"/>
            <a:ext cx="0" cy="138724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" name="s5-7-blackbox"/>
          <p:cNvSpPr/>
          <p:nvPr/>
        </p:nvSpPr>
        <p:spPr>
          <a:xfrm>
            <a:off x="813542" y="1783126"/>
            <a:ext cx="6669405" cy="4801972"/>
          </a:xfrm>
          <a:prstGeom prst="roundRect">
            <a:avLst>
              <a:gd name="adj" fmla="val 3047"/>
            </a:avLst>
          </a:prstGeom>
          <a:solidFill>
            <a:srgbClr val="1D1D1F"/>
          </a:solidFill>
          <a:ln w="15875">
            <a:solidFill>
              <a:srgbClr val="1D1D1F"/>
            </a:solidFill>
            <a:prstDash val="solid"/>
          </a:ln>
        </p:spPr>
      </p:sp>
      <p:sp>
        <p:nvSpPr>
          <p:cNvPr id="9" name="s5-8-blackbox-label"/>
          <p:cNvSpPr txBox="1"/>
          <p:nvPr/>
        </p:nvSpPr>
        <p:spPr>
          <a:xfrm>
            <a:off x="1026963" y="1886087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0" name="s5-9-blackbox-q"/>
          <p:cNvSpPr txBox="1"/>
          <p:nvPr/>
        </p:nvSpPr>
        <p:spPr>
          <a:xfrm>
            <a:off x="813542" y="3223717"/>
            <a:ext cx="66694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11" name="s5-10-arrow"/>
          <p:cNvSpPr/>
          <p:nvPr/>
        </p:nvSpPr>
        <p:spPr>
          <a:xfrm>
            <a:off x="7504289" y="4184112"/>
            <a:ext cx="650934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2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13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14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5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6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7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8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9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20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21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22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23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24" name="s5-23-arrow"/>
          <p:cNvSpPr/>
          <p:nvPr/>
        </p:nvSpPr>
        <p:spPr>
          <a:xfrm>
            <a:off x="2414199" y="1623060"/>
            <a:ext cx="0" cy="83234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5" name="s5-24-editor"/>
          <p:cNvSpPr/>
          <p:nvPr/>
        </p:nvSpPr>
        <p:spPr>
          <a:xfrm>
            <a:off x="1005621" y="2476744"/>
            <a:ext cx="2176894" cy="853684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6" name="s5-25-editor-title"/>
          <p:cNvSpPr txBox="1"/>
          <p:nvPr/>
        </p:nvSpPr>
        <p:spPr>
          <a:xfrm>
            <a:off x="722467" y="265858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500" dirty="0"/>
          </a:p>
        </p:txBody>
      </p:sp>
      <p:sp>
        <p:nvSpPr>
          <p:cNvPr id="27" name="s5-26-editor-sub"/>
          <p:cNvSpPr txBox="1"/>
          <p:nvPr/>
        </p:nvSpPr>
        <p:spPr>
          <a:xfrm>
            <a:off x="722467" y="2950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 YAML editing</a:t>
            </a:r>
            <a:endParaRPr lang="en-US" sz="1200" dirty="0"/>
          </a:p>
        </p:txBody>
      </p:sp>
      <p:sp>
        <p:nvSpPr>
          <p:cNvPr id="28" name="s5-27-badge"/>
          <p:cNvSpPr/>
          <p:nvPr/>
        </p:nvSpPr>
        <p:spPr>
          <a:xfrm>
            <a:off x="868461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5-28-badge-n"/>
          <p:cNvSpPr txBox="1"/>
          <p:nvPr/>
        </p:nvSpPr>
        <p:spPr>
          <a:xfrm>
            <a:off x="868461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s5-29-arrow"/>
          <p:cNvSpPr/>
          <p:nvPr/>
        </p:nvSpPr>
        <p:spPr>
          <a:xfrm>
            <a:off x="2094067" y="3330428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1" name="s5-30-lbl"/>
          <p:cNvSpPr txBox="1"/>
          <p:nvPr/>
        </p:nvSpPr>
        <p:spPr>
          <a:xfrm>
            <a:off x="2212610" y="3510363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32" name="s5-31-history"/>
          <p:cNvSpPr/>
          <p:nvPr/>
        </p:nvSpPr>
        <p:spPr>
          <a:xfrm>
            <a:off x="1005621" y="3970691"/>
            <a:ext cx="2176894" cy="1600657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3" name="s5-32-history-title"/>
          <p:cNvSpPr txBox="1"/>
          <p:nvPr/>
        </p:nvSpPr>
        <p:spPr>
          <a:xfrm>
            <a:off x="722467" y="4088505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500" dirty="0"/>
          </a:p>
        </p:txBody>
      </p:sp>
      <p:sp>
        <p:nvSpPr>
          <p:cNvPr id="34" name="s5-33-version"/>
          <p:cNvSpPr/>
          <p:nvPr/>
        </p:nvSpPr>
        <p:spPr>
          <a:xfrm>
            <a:off x="1176357" y="4418875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5" name="s5-34-version-label"/>
          <p:cNvSpPr txBox="1"/>
          <p:nvPr/>
        </p:nvSpPr>
        <p:spPr>
          <a:xfrm>
            <a:off x="1304410" y="4466173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200" dirty="0"/>
          </a:p>
        </p:txBody>
      </p:sp>
      <p:sp>
        <p:nvSpPr>
          <p:cNvPr id="36" name="s5-35-version"/>
          <p:cNvSpPr/>
          <p:nvPr/>
        </p:nvSpPr>
        <p:spPr>
          <a:xfrm>
            <a:off x="1176357" y="4781690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7" name="s5-36-version-label"/>
          <p:cNvSpPr txBox="1"/>
          <p:nvPr/>
        </p:nvSpPr>
        <p:spPr>
          <a:xfrm>
            <a:off x="1304410" y="4828989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200" dirty="0"/>
          </a:p>
        </p:txBody>
      </p:sp>
      <p:sp>
        <p:nvSpPr>
          <p:cNvPr id="38" name="s5-37-version-new"/>
          <p:cNvSpPr/>
          <p:nvPr/>
        </p:nvSpPr>
        <p:spPr>
          <a:xfrm>
            <a:off x="1176357" y="5144506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39" name="s5-38-version-new-label"/>
          <p:cNvSpPr txBox="1"/>
          <p:nvPr/>
        </p:nvSpPr>
        <p:spPr>
          <a:xfrm>
            <a:off x="1304410" y="5191805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200" dirty="0"/>
          </a:p>
        </p:txBody>
      </p:sp>
      <p:sp>
        <p:nvSpPr>
          <p:cNvPr id="40" name="s5-39-version-new-tag"/>
          <p:cNvSpPr txBox="1"/>
          <p:nvPr/>
        </p:nvSpPr>
        <p:spPr>
          <a:xfrm>
            <a:off x="2335085" y="5191805"/>
            <a:ext cx="548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41" name="s5-40-badge"/>
          <p:cNvSpPr/>
          <p:nvPr/>
        </p:nvSpPr>
        <p:spPr>
          <a:xfrm>
            <a:off x="868461" y="3833531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s5-41-badge-n"/>
          <p:cNvSpPr txBox="1"/>
          <p:nvPr/>
        </p:nvSpPr>
        <p:spPr>
          <a:xfrm>
            <a:off x="868461" y="3833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s5-42-sync"/>
          <p:cNvSpPr/>
          <p:nvPr/>
        </p:nvSpPr>
        <p:spPr>
          <a:xfrm>
            <a:off x="4687132" y="2476744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44" name="s5-43-sync-title"/>
          <p:cNvSpPr txBox="1"/>
          <p:nvPr/>
        </p:nvSpPr>
        <p:spPr>
          <a:xfrm>
            <a:off x="4617400" y="257321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500" dirty="0"/>
          </a:p>
        </p:txBody>
      </p:sp>
      <p:sp>
        <p:nvSpPr>
          <p:cNvPr id="45" name="s5-44-sync-sub"/>
          <p:cNvSpPr txBox="1"/>
          <p:nvPr/>
        </p:nvSpPr>
        <p:spPr>
          <a:xfrm>
            <a:off x="4617400" y="284417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200" dirty="0"/>
          </a:p>
        </p:txBody>
      </p:sp>
      <p:sp>
        <p:nvSpPr>
          <p:cNvPr id="46" name="s5-45-arrow"/>
          <p:cNvSpPr/>
          <p:nvPr/>
        </p:nvSpPr>
        <p:spPr>
          <a:xfrm>
            <a:off x="3609356" y="2796875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47" name="s5-46-lbl"/>
          <p:cNvSpPr txBox="1"/>
          <p:nvPr/>
        </p:nvSpPr>
        <p:spPr>
          <a:xfrm>
            <a:off x="3916439" y="2528627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48" name="s5-47-badge"/>
          <p:cNvSpPr/>
          <p:nvPr/>
        </p:nvSpPr>
        <p:spPr>
          <a:xfrm>
            <a:off x="4549972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s5-48-badge-n"/>
          <p:cNvSpPr txBox="1"/>
          <p:nvPr/>
        </p:nvSpPr>
        <p:spPr>
          <a:xfrm>
            <a:off x="4549972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0" name="s5-49-arrow"/>
          <p:cNvSpPr/>
          <p:nvPr/>
        </p:nvSpPr>
        <p:spPr>
          <a:xfrm>
            <a:off x="3588014" y="3735928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1" name="s5-50-lbl"/>
          <p:cNvSpPr txBox="1"/>
          <p:nvPr/>
        </p:nvSpPr>
        <p:spPr>
          <a:xfrm>
            <a:off x="3650806" y="3467679"/>
            <a:ext cx="962863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version</a:t>
            </a:r>
            <a:endParaRPr lang="en-US" sz="1100" dirty="0"/>
          </a:p>
        </p:txBody>
      </p:sp>
      <p:sp>
        <p:nvSpPr>
          <p:cNvPr id="52" name="s5-51-lbl"/>
          <p:cNvSpPr txBox="1"/>
          <p:nvPr/>
        </p:nvSpPr>
        <p:spPr>
          <a:xfrm>
            <a:off x="3916439" y="376646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53" name="s5-52-import"/>
          <p:cNvSpPr/>
          <p:nvPr/>
        </p:nvSpPr>
        <p:spPr>
          <a:xfrm>
            <a:off x="4687132" y="3415796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54" name="s5-53-import-title"/>
          <p:cNvSpPr txBox="1"/>
          <p:nvPr/>
        </p:nvSpPr>
        <p:spPr>
          <a:xfrm>
            <a:off x="4617400" y="3512268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500" dirty="0"/>
          </a:p>
        </p:txBody>
      </p:sp>
      <p:sp>
        <p:nvSpPr>
          <p:cNvPr id="55" name="s5-54-import-sub"/>
          <p:cNvSpPr txBox="1"/>
          <p:nvPr/>
        </p:nvSpPr>
        <p:spPr>
          <a:xfrm>
            <a:off x="4617400" y="3783226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200" dirty="0"/>
          </a:p>
        </p:txBody>
      </p:sp>
      <p:sp>
        <p:nvSpPr>
          <p:cNvPr id="56" name="s5-55-badge"/>
          <p:cNvSpPr/>
          <p:nvPr/>
        </p:nvSpPr>
        <p:spPr>
          <a:xfrm>
            <a:off x="4549972" y="3278636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s5-56-badge-n"/>
          <p:cNvSpPr txBox="1"/>
          <p:nvPr/>
        </p:nvSpPr>
        <p:spPr>
          <a:xfrm>
            <a:off x="4549972" y="3278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8" name="s5-57-arrow"/>
          <p:cNvSpPr/>
          <p:nvPr/>
        </p:nvSpPr>
        <p:spPr>
          <a:xfrm>
            <a:off x="5989000" y="4056059"/>
            <a:ext cx="0" cy="277447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9" name="s5-58-migration"/>
          <p:cNvSpPr/>
          <p:nvPr/>
        </p:nvSpPr>
        <p:spPr>
          <a:xfrm>
            <a:off x="4687132" y="4354848"/>
            <a:ext cx="2603736" cy="1088447"/>
          </a:xfrm>
          <a:prstGeom prst="roundRect">
            <a:avLst>
              <a:gd name="adj" fmla="val 8401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60" name="s5-59-migration-title"/>
          <p:cNvSpPr txBox="1"/>
          <p:nvPr/>
        </p:nvSpPr>
        <p:spPr>
          <a:xfrm>
            <a:off x="4617400" y="4451321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migration</a:t>
            </a:r>
            <a:endParaRPr lang="en-US" sz="1500" dirty="0"/>
          </a:p>
        </p:txBody>
      </p:sp>
      <p:sp>
        <p:nvSpPr>
          <p:cNvPr id="61" name="s5-60-migration-sub"/>
          <p:cNvSpPr txBox="1"/>
          <p:nvPr/>
        </p:nvSpPr>
        <p:spPr>
          <a:xfrm>
            <a:off x="4617400" y="4711608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configured policy</a:t>
            </a:r>
            <a:endParaRPr lang="en-US" sz="1200" dirty="0"/>
          </a:p>
        </p:txBody>
      </p:sp>
      <p:sp>
        <p:nvSpPr>
          <p:cNvPr id="62" name="s5-61-migration-p1"/>
          <p:cNvSpPr txBox="1"/>
          <p:nvPr/>
        </p:nvSpPr>
        <p:spPr>
          <a:xfrm>
            <a:off x="4617400" y="4958436"/>
            <a:ext cx="2743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all_last · new_last</a:t>
            </a:r>
            <a:endParaRPr lang="en-US" sz="1100" dirty="0"/>
          </a:p>
        </p:txBody>
      </p:sp>
      <p:sp>
        <p:nvSpPr>
          <p:cNvPr id="63" name="s5-62-migration-p2"/>
          <p:cNvSpPr txBox="1"/>
          <p:nvPr/>
        </p:nvSpPr>
        <p:spPr>
          <a:xfrm>
            <a:off x="4617400" y="5161186"/>
            <a:ext cx="2743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all_pick · new_pick</a:t>
            </a:r>
            <a:endParaRPr lang="en-US" sz="1100" dirty="0"/>
          </a:p>
        </p:txBody>
      </p:sp>
      <p:sp>
        <p:nvSpPr>
          <p:cNvPr id="64" name="s5-63-badge"/>
          <p:cNvSpPr/>
          <p:nvPr/>
        </p:nvSpPr>
        <p:spPr>
          <a:xfrm>
            <a:off x="4549972" y="4217688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s5-64-badge-n"/>
          <p:cNvSpPr txBox="1"/>
          <p:nvPr/>
        </p:nvSpPr>
        <p:spPr>
          <a:xfrm>
            <a:off x="4549972" y="4217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6" name="s5-65-arrow"/>
          <p:cNvSpPr/>
          <p:nvPr/>
        </p:nvSpPr>
        <p:spPr>
          <a:xfrm>
            <a:off x="5989000" y="5443295"/>
            <a:ext cx="0" cy="277447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7" name="s5-66-events"/>
          <p:cNvSpPr/>
          <p:nvPr/>
        </p:nvSpPr>
        <p:spPr>
          <a:xfrm>
            <a:off x="4687132" y="5742085"/>
            <a:ext cx="2603736" cy="629592"/>
          </a:xfrm>
          <a:prstGeom prst="roundRect">
            <a:avLst>
              <a:gd name="adj" fmla="val 14524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68" name="s5-67-events-title"/>
          <p:cNvSpPr txBox="1"/>
          <p:nvPr/>
        </p:nvSpPr>
        <p:spPr>
          <a:xfrm>
            <a:off x="4617400" y="582788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service</a:t>
            </a:r>
            <a:endParaRPr lang="en-US" sz="1500" dirty="0"/>
          </a:p>
        </p:txBody>
      </p:sp>
      <p:sp>
        <p:nvSpPr>
          <p:cNvPr id="69" name="s5-68-events-sub"/>
          <p:cNvSpPr txBox="1"/>
          <p:nvPr/>
        </p:nvSpPr>
        <p:spPr>
          <a:xfrm>
            <a:off x="4617400" y="609884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notifies pricing changes</a:t>
            </a:r>
            <a:endParaRPr lang="en-US" sz="1200" dirty="0"/>
          </a:p>
        </p:txBody>
      </p:sp>
      <p:sp>
        <p:nvSpPr>
          <p:cNvPr id="70" name="s5-69-badge"/>
          <p:cNvSpPr/>
          <p:nvPr/>
        </p:nvSpPr>
        <p:spPr>
          <a:xfrm>
            <a:off x="4549972" y="5604925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s5-70-badge-n"/>
          <p:cNvSpPr txBox="1"/>
          <p:nvPr/>
        </p:nvSpPr>
        <p:spPr>
          <a:xfrm>
            <a:off x="4549972" y="56049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72" name="s5-71-ws-1"/>
          <p:cNvSpPr/>
          <p:nvPr/>
        </p:nvSpPr>
        <p:spPr>
          <a:xfrm>
            <a:off x="7290868" y="6051545"/>
            <a:ext cx="3660169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</a:ln>
        </p:spPr>
      </p:sp>
      <p:sp>
        <p:nvSpPr>
          <p:cNvPr id="73" name="s5-72-ws-2"/>
          <p:cNvSpPr/>
          <p:nvPr/>
        </p:nvSpPr>
        <p:spPr>
          <a:xfrm>
            <a:off x="10951037" y="2850231"/>
            <a:ext cx="0" cy="3201314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</a:ln>
        </p:spPr>
      </p:sp>
      <p:sp>
        <p:nvSpPr>
          <p:cNvPr id="74" name="s5-73-ws-3"/>
          <p:cNvSpPr/>
          <p:nvPr/>
        </p:nvSpPr>
        <p:spPr>
          <a:xfrm>
            <a:off x="10758958" y="2850231"/>
            <a:ext cx="192079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75" name="s5-74-ws-dot"/>
          <p:cNvSpPr/>
          <p:nvPr/>
        </p:nvSpPr>
        <p:spPr>
          <a:xfrm>
            <a:off x="9507410" y="6005825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6" name="s5-75-ws-backend"/>
          <p:cNvSpPr/>
          <p:nvPr/>
        </p:nvSpPr>
        <p:spPr>
          <a:xfrm>
            <a:off x="9553130" y="5432624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77" name="s5-76-lbl"/>
          <p:cNvSpPr txBox="1"/>
          <p:nvPr/>
        </p:nvSpPr>
        <p:spPr>
          <a:xfrm>
            <a:off x="8292694" y="5670652"/>
            <a:ext cx="1153516" cy="237744"/>
          </a:xfrm>
          <a:prstGeom prst="rect">
            <a:avLst/>
          </a:prstGeom>
          <a:solidFill>
            <a:srgbClr val="EAF6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Events(WebSocket)</a:t>
            </a:r>
            <a:endParaRPr lang="en-US" sz="1100" dirty="0"/>
          </a:p>
        </p:txBody>
      </p:sp>
      <p:sp>
        <p:nvSpPr>
          <p:cNvPr id="78" name="s5-77-frontend-sub"/>
          <p:cNvSpPr txBox="1"/>
          <p:nvPr/>
        </p:nvSpPr>
        <p:spPr>
          <a:xfrm>
            <a:off x="8181530" y="2929543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components</a:t>
            </a:r>
            <a:endParaRPr lang="en-US" sz="1200" dirty="0"/>
          </a:p>
        </p:txBody>
      </p:sp>
      <p:sp>
        <p:nvSpPr>
          <p:cNvPr id="79" name="s5-78-backend-sub"/>
          <p:cNvSpPr txBox="1"/>
          <p:nvPr/>
        </p:nvSpPr>
        <p:spPr>
          <a:xfrm>
            <a:off x="8181530" y="508509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business logic</a:t>
            </a:r>
            <a:endParaRPr lang="en-US" sz="1200" dirty="0"/>
          </a:p>
        </p:txBody>
      </p:sp>
      <p:sp>
        <p:nvSpPr>
          <p:cNvPr id="80" name="s5-79-badge"/>
          <p:cNvSpPr/>
          <p:nvPr/>
        </p:nvSpPr>
        <p:spPr>
          <a:xfrm>
            <a:off x="8231484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1" name="s5-80-badge-n"/>
          <p:cNvSpPr txBox="1"/>
          <p:nvPr/>
        </p:nvSpPr>
        <p:spPr>
          <a:xfrm>
            <a:off x="8231484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82" name="s5-81-badge"/>
          <p:cNvSpPr/>
          <p:nvPr/>
        </p:nvSpPr>
        <p:spPr>
          <a:xfrm>
            <a:off x="8231484" y="4473793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s5-82-badge-n"/>
          <p:cNvSpPr txBox="1"/>
          <p:nvPr/>
        </p:nvSpPr>
        <p:spPr>
          <a:xfrm>
            <a:off x="8231484" y="44737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22" presetClass="entr" presetSubtype="4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5" dur="3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4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22" presetClass="entr" presetSubtype="2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1" dur="1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Pricing-driven self-adaptation · demo diagrams</dc:title>
  <dc:subject>PptxGenJS Presentation</dc:subject>
  <dc:creator>ICSOC 2026 demo</dc:creator>
  <cp:lastModifiedBy>ICSOC 2026 demo</cp:lastModifiedBy>
  <cp:revision>1</cp:revision>
  <dcterms:created xsi:type="dcterms:W3CDTF">2026-10-13T18:12:58Z</dcterms:created>
  <dcterms:modified xsi:type="dcterms:W3CDTF">2026-10-13T18:12:58Z</dcterms:modified>
</cp:coreProperties>
</file>