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7055f9b-87db-651f-a74c-0d8b1cc25a18}">
          <p14:sldIdLst>
            <p14:sldId id="256"/>
          </p14:sldIdLst>
        </p14:section>
        <p14:section name="Black box" id="{5c4d9dd6-46b7-30a0-24bb-ed961c72c4f5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Black box (John, app, box)" id="{9f05868d-6426-edca-90d3-878fcd5ba9a1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Following the change" id="{96b87a99-91d5-a0ea-31e2-ec4d0ef32cdb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Inside the black box" id="{4accd646-5f22-cab1-a7eb-40c8391e7882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0 of 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0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2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3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4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5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6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7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0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2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3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4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5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6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7 of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0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2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3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4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5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6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7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8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0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1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2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3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4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5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6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7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8 of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1-title"/>
          <p:cNvSpPr txBox="1"/>
          <p:nvPr/>
        </p:nvSpPr>
        <p:spPr>
          <a:xfrm>
            <a:off x="3639312" y="2596896"/>
            <a:ext cx="5084064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Aharoni" pitchFamily="34" charset="0"/>
                <a:ea typeface="Aharoni" pitchFamily="34" charset="-122"/>
                <a:cs typeface="Aharoni" pitchFamily="34" charset="-120"/>
              </a:rPr>
              <a:t>SPHERE x SPACE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0-editor-val-old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4" name="s2-23-editor-val-old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400" dirty="0"/>
          </a:p>
        </p:txBody>
      </p:sp>
      <p:sp>
        <p:nvSpPr>
          <p:cNvPr id="25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7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0-editor-val-old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4" name="s2-23-editor-val-old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400" dirty="0"/>
          </a:p>
        </p:txBody>
      </p:sp>
      <p:sp>
        <p:nvSpPr>
          <p:cNvPr id="25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7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28" name="s2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9" name="s2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2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1" name="s2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2" name="s2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3" name="s2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34" name="s2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35" name="s2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36" name="s2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37" name="s2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38" name="s2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39" name="s2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2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1" name="s2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42" name="s2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3" name="s2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4" name="s2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5" name="s2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6" name="s2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47" name="s2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2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2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2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2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2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1" name="s2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2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3" name="s2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4" name="s2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5" name="s2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36" name="s2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37" name="s2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38" name="s2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39" name="s2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40" name="s2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41" name="s2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2" name="s2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3" name="s2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44" name="s2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5" name="s2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6" name="s2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7" name="s2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8" name="s2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49" name="s2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2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2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2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2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2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1" name="s2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2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s2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4" name="s2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s2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2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2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8" name="s2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9" name="s2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2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1" name="s2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2" name="s2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43" name="s2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44" name="s2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45" name="s2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6" name="s2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7" name="s2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48" name="s2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9" name="s2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0" name="s2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1" name="s2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2" name="s2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53" name="s2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2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2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2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2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2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1" name="s2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2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s2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4" name="s2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s2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2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2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8" name="s2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9" name="s2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2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1" name="s2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2" name="s2-44-app-usage-new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300" dirty="0"/>
          </a:p>
        </p:txBody>
      </p:sp>
      <p:sp>
        <p:nvSpPr>
          <p:cNvPr id="43" name="s2-47-app-btn-new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4" name="s2-48-app-btn-new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300" dirty="0"/>
          </a:p>
        </p:txBody>
      </p:sp>
      <p:sp>
        <p:nvSpPr>
          <p:cNvPr id="45" name="s2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6" name="s2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7" name="s2-52-summary-new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1000" dirty="0"/>
          </a:p>
        </p:txBody>
      </p:sp>
      <p:sp>
        <p:nvSpPr>
          <p:cNvPr id="48" name="s2-54-bar-new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9" name="s2-56-bar-new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0" name="s2-58-bar-new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1" name="s2-60-bar-new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2" name="s2-63-app-updated"/>
          <p:cNvSpPr/>
          <p:nvPr/>
        </p:nvSpPr>
        <p:spPr>
          <a:xfrm>
            <a:off x="9829800" y="4800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53" name="s2-64-app-updated-label"/>
          <p:cNvSpPr txBox="1"/>
          <p:nvPr/>
        </p:nvSpPr>
        <p:spPr>
          <a:xfrm>
            <a:off x="9829800" y="4800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2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2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2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2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2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2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2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2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2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2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2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2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2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2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2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2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2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2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2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2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2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2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2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2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2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2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2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2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2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1" name="s2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2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s2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4" name="s2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s2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2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2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8" name="s2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9" name="s2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2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1" name="s2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2" name="s2-44-app-usage-new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300" dirty="0"/>
          </a:p>
        </p:txBody>
      </p:sp>
      <p:sp>
        <p:nvSpPr>
          <p:cNvPr id="43" name="s2-47-app-btn-new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4" name="s2-48-app-btn-new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300" dirty="0"/>
          </a:p>
        </p:txBody>
      </p:sp>
      <p:sp>
        <p:nvSpPr>
          <p:cNvPr id="45" name="s2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6" name="s2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7" name="s2-52-summary-new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1000" dirty="0"/>
          </a:p>
        </p:txBody>
      </p:sp>
      <p:sp>
        <p:nvSpPr>
          <p:cNvPr id="48" name="s2-54-bar-new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9" name="s2-56-bar-new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0" name="s2-58-bar-new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1" name="s2-60-bar-new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2" name="s2-63-app-updated"/>
          <p:cNvSpPr/>
          <p:nvPr/>
        </p:nvSpPr>
        <p:spPr>
          <a:xfrm>
            <a:off x="9829800" y="4800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53" name="s2-64-app-updated-label"/>
          <p:cNvSpPr txBox="1"/>
          <p:nvPr/>
        </p:nvSpPr>
        <p:spPr>
          <a:xfrm>
            <a:off x="9829800" y="4800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1000" dirty="0"/>
          </a:p>
        </p:txBody>
      </p:sp>
      <p:sp>
        <p:nvSpPr>
          <p:cNvPr id="54" name="s2-65-takeaway"/>
          <p:cNvSpPr txBox="1"/>
          <p:nvPr/>
        </p:nvSpPr>
        <p:spPr>
          <a:xfrm>
            <a:off x="548640" y="6108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  ·  no redeploy  ·  the app adapts almost in real time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6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7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8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9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10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11" name="s3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12" name="s3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13" name="s3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14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5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16" name="s3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17" name="s3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18" name="s3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19" name="s3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0" name="s3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3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2" name="s3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3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3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3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3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3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3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3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3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3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3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3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3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3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3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3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3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3-20-editor-val-old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3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3" name="s3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4" name="s3-23-editor-val-old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400" dirty="0"/>
          </a:p>
        </p:txBody>
      </p:sp>
      <p:sp>
        <p:nvSpPr>
          <p:cNvPr id="25" name="s3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s3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7" name="s3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28" name="s3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9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1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2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3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34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35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36" name="s3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37" name="s3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38" name="s3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39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1" name="s3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42" name="s3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3" name="s3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4" name="s3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5" name="s3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6" name="s3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47" name="s3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3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3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3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3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3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3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3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3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3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3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3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3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3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3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3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3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3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3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3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3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3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3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3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3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3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3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1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2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3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4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5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36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37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38" name="s3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39" name="s3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40" name="s3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41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2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3" name="s3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44" name="s3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5" name="s3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6" name="s3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7" name="s3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8" name="s3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49" name="s3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3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3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3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3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3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3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3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3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3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3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3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3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3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3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3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3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3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3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3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3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3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3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3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3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3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3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1" name="s3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3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s3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4" name="s3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8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9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1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2" name="s3-43-app-usage-old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300" dirty="0"/>
          </a:p>
        </p:txBody>
      </p:sp>
      <p:sp>
        <p:nvSpPr>
          <p:cNvPr id="43" name="s3-45-app-btn-old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DCD6CE"/>
          </a:solidFill>
          <a:ln w="12700">
            <a:solidFill>
              <a:srgbClr val="DCD6CE"/>
            </a:solidFill>
            <a:prstDash val="solid"/>
          </a:ln>
        </p:spPr>
      </p:sp>
      <p:sp>
        <p:nvSpPr>
          <p:cNvPr id="44" name="s3-46-app-btn-old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300" dirty="0"/>
          </a:p>
        </p:txBody>
      </p:sp>
      <p:sp>
        <p:nvSpPr>
          <p:cNvPr id="45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6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7" name="s3-51-summary-old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1000" dirty="0"/>
          </a:p>
        </p:txBody>
      </p:sp>
      <p:sp>
        <p:nvSpPr>
          <p:cNvPr id="48" name="s3-53-bar-old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49" name="s3-55-bar-old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0" name="s3-57-bar-old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1" name="s3-59-bar-old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52" name="s3-61-summary-lock-bg"/>
          <p:cNvSpPr/>
          <p:nvPr/>
        </p:nvSpPr>
        <p:spPr>
          <a:xfrm>
            <a:off x="10844784" y="3739896"/>
            <a:ext cx="493776" cy="49377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53" name="s3-62-summary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5368" y="3840480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3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3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3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3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3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3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3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3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3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3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3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3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3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3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3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3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3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3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3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3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3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3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3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3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3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3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1" name="s3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3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s3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4" name="s3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8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9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1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2" name="s3-44-app-usage-new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300" dirty="0"/>
          </a:p>
        </p:txBody>
      </p:sp>
      <p:sp>
        <p:nvSpPr>
          <p:cNvPr id="43" name="s3-47-app-btn-new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4" name="s3-48-app-btn-new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300" dirty="0"/>
          </a:p>
        </p:txBody>
      </p:sp>
      <p:sp>
        <p:nvSpPr>
          <p:cNvPr id="45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6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7" name="s3-52-summary-new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1000" dirty="0"/>
          </a:p>
        </p:txBody>
      </p:sp>
      <p:sp>
        <p:nvSpPr>
          <p:cNvPr id="48" name="s3-54-bar-new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9" name="s3-56-bar-new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0" name="s3-58-bar-new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1" name="s3-60-bar-new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2" name="s3-63-app-updated"/>
          <p:cNvSpPr/>
          <p:nvPr/>
        </p:nvSpPr>
        <p:spPr>
          <a:xfrm>
            <a:off x="9829800" y="4800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53" name="s3-64-app-updated-label"/>
          <p:cNvSpPr txBox="1"/>
          <p:nvPr/>
        </p:nvSpPr>
        <p:spPr>
          <a:xfrm>
            <a:off x="9829800" y="4800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3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97480"/>
            <a:ext cx="868680" cy="868680"/>
          </a:xfrm>
          <a:prstGeom prst="rect">
            <a:avLst/>
          </a:prstGeom>
        </p:spPr>
      </p:pic>
      <p:sp>
        <p:nvSpPr>
          <p:cNvPr id="3" name="s3-2-john-name"/>
          <p:cNvSpPr txBox="1"/>
          <p:nvPr/>
        </p:nvSpPr>
        <p:spPr>
          <a:xfrm>
            <a:off x="182880" y="37033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800" dirty="0"/>
          </a:p>
        </p:txBody>
      </p:sp>
      <p:sp>
        <p:nvSpPr>
          <p:cNvPr id="4" name="s3-3-arrow-john-box"/>
          <p:cNvSpPr/>
          <p:nvPr/>
        </p:nvSpPr>
        <p:spPr>
          <a:xfrm>
            <a:off x="1536192" y="3154680"/>
            <a:ext cx="67665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" name="s3-4-blackbox"/>
          <p:cNvSpPr/>
          <p:nvPr/>
        </p:nvSpPr>
        <p:spPr>
          <a:xfrm>
            <a:off x="2240280" y="1417320"/>
            <a:ext cx="5120640" cy="4434840"/>
          </a:xfrm>
          <a:prstGeom prst="roundRect">
            <a:avLst>
              <a:gd name="adj" fmla="val 3711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6" name="s3-5-blackbox-label"/>
          <p:cNvSpPr txBox="1"/>
          <p:nvPr/>
        </p:nvSpPr>
        <p:spPr>
          <a:xfrm>
            <a:off x="2514600" y="157276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7" name="s3-6-blackbox-q"/>
          <p:cNvSpPr txBox="1"/>
          <p:nvPr/>
        </p:nvSpPr>
        <p:spPr>
          <a:xfrm>
            <a:off x="5989320" y="2468880"/>
            <a:ext cx="1234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8000" dirty="0"/>
          </a:p>
        </p:txBody>
      </p:sp>
      <p:sp>
        <p:nvSpPr>
          <p:cNvPr id="8" name="s3-7-blackbox-note"/>
          <p:cNvSpPr txBox="1"/>
          <p:nvPr/>
        </p:nvSpPr>
        <p:spPr>
          <a:xfrm>
            <a:off x="5989320" y="384048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1A1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stays hidden from John</a:t>
            </a:r>
            <a:endParaRPr lang="en-US" sz="1100" dirty="0"/>
          </a:p>
        </p:txBody>
      </p:sp>
      <p:sp>
        <p:nvSpPr>
          <p:cNvPr id="9" name="s3-8-editor"/>
          <p:cNvSpPr/>
          <p:nvPr/>
        </p:nvSpPr>
        <p:spPr>
          <a:xfrm>
            <a:off x="2514600" y="2103120"/>
            <a:ext cx="3383280" cy="347472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3-9-editor-chrome"/>
          <p:cNvSpPr/>
          <p:nvPr/>
        </p:nvSpPr>
        <p:spPr>
          <a:xfrm>
            <a:off x="2514600" y="2103120"/>
            <a:ext cx="3383280" cy="493776"/>
          </a:xfrm>
          <a:prstGeom prst="roundRect">
            <a:avLst>
              <a:gd name="adj" fmla="val 18519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11" name="s3-10-editor-chrome-cut"/>
          <p:cNvSpPr/>
          <p:nvPr/>
        </p:nvSpPr>
        <p:spPr>
          <a:xfrm>
            <a:off x="2523744" y="2487168"/>
            <a:ext cx="3364992" cy="12801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3-11-editor-dot"/>
          <p:cNvSpPr/>
          <p:nvPr/>
        </p:nvSpPr>
        <p:spPr>
          <a:xfrm>
            <a:off x="2679192" y="2231136"/>
            <a:ext cx="118872" cy="11887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3-12-editor-dot"/>
          <p:cNvSpPr/>
          <p:nvPr/>
        </p:nvSpPr>
        <p:spPr>
          <a:xfrm>
            <a:off x="2862072" y="2231136"/>
            <a:ext cx="118872" cy="118872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3-13-editor-dot"/>
          <p:cNvSpPr/>
          <p:nvPr/>
        </p:nvSpPr>
        <p:spPr>
          <a:xfrm>
            <a:off x="3044952" y="2231136"/>
            <a:ext cx="118872" cy="11887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s3-14-editor-title"/>
          <p:cNvSpPr txBox="1"/>
          <p:nvPr/>
        </p:nvSpPr>
        <p:spPr>
          <a:xfrm>
            <a:off x="3291840" y="21579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100" dirty="0"/>
          </a:p>
        </p:txBody>
      </p:sp>
      <p:sp>
        <p:nvSpPr>
          <p:cNvPr id="16" name="s3-15-editor-plan"/>
          <p:cNvSpPr txBox="1"/>
          <p:nvPr/>
        </p:nvSpPr>
        <p:spPr>
          <a:xfrm>
            <a:off x="2743200" y="26700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600" dirty="0"/>
          </a:p>
        </p:txBody>
      </p:sp>
      <p:sp>
        <p:nvSpPr>
          <p:cNvPr id="17" name="s3-16-editor-key"/>
          <p:cNvSpPr txBox="1"/>
          <p:nvPr/>
        </p:nvSpPr>
        <p:spPr>
          <a:xfrm>
            <a:off x="2743200" y="312724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/ month</a:t>
            </a:r>
            <a:endParaRPr lang="en-US" sz="1400" dirty="0"/>
          </a:p>
        </p:txBody>
      </p:sp>
      <p:sp>
        <p:nvSpPr>
          <p:cNvPr id="18" name="s3-17-editor-val-old"/>
          <p:cNvSpPr txBox="1"/>
          <p:nvPr/>
        </p:nvSpPr>
        <p:spPr>
          <a:xfrm>
            <a:off x="4709160" y="3127248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400" dirty="0"/>
          </a:p>
        </p:txBody>
      </p:sp>
      <p:sp>
        <p:nvSpPr>
          <p:cNvPr id="19" name="s3-18-editor-rule"/>
          <p:cNvSpPr/>
          <p:nvPr/>
        </p:nvSpPr>
        <p:spPr>
          <a:xfrm>
            <a:off x="2743200" y="3547872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3-19-editor-key"/>
          <p:cNvSpPr txBox="1"/>
          <p:nvPr/>
        </p:nvSpPr>
        <p:spPr>
          <a:xfrm>
            <a:off x="2743200" y="3602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400" dirty="0"/>
          </a:p>
        </p:txBody>
      </p:sp>
      <p:sp>
        <p:nvSpPr>
          <p:cNvPr id="21" name="s3-21-editor-rule"/>
          <p:cNvSpPr/>
          <p:nvPr/>
        </p:nvSpPr>
        <p:spPr>
          <a:xfrm>
            <a:off x="2743200" y="4023360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2" name="s3-22-editor-key"/>
          <p:cNvSpPr txBox="1"/>
          <p:nvPr/>
        </p:nvSpPr>
        <p:spPr>
          <a:xfrm>
            <a:off x="27432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400" dirty="0"/>
          </a:p>
        </p:txBody>
      </p:sp>
      <p:sp>
        <p:nvSpPr>
          <p:cNvPr id="23" name="s3-24-editor-rule"/>
          <p:cNvSpPr/>
          <p:nvPr/>
        </p:nvSpPr>
        <p:spPr>
          <a:xfrm>
            <a:off x="2743200" y="4498848"/>
            <a:ext cx="292608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4" name="s3-25-editor-val-pill"/>
          <p:cNvSpPr/>
          <p:nvPr/>
        </p:nvSpPr>
        <p:spPr>
          <a:xfrm>
            <a:off x="4709160" y="3630168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5" name="s3-26-editor-val-new"/>
          <p:cNvSpPr txBox="1"/>
          <p:nvPr/>
        </p:nvSpPr>
        <p:spPr>
          <a:xfrm>
            <a:off x="4709160" y="3602736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3-27-editor-val-pill"/>
          <p:cNvSpPr/>
          <p:nvPr/>
        </p:nvSpPr>
        <p:spPr>
          <a:xfrm>
            <a:off x="4709160" y="4105656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FDF1EC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7" name="s3-28-editor-val-new"/>
          <p:cNvSpPr txBox="1"/>
          <p:nvPr/>
        </p:nvSpPr>
        <p:spPr>
          <a:xfrm>
            <a:off x="4709160" y="4078224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400" dirty="0"/>
          </a:p>
        </p:txBody>
      </p:sp>
      <p:sp>
        <p:nvSpPr>
          <p:cNvPr id="28" name="s3-29-publish-off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F2F2F4"/>
          </a:solidFill>
          <a:ln w="12700">
            <a:solidFill>
              <a:srgbClr val="F2F2F4"/>
            </a:solidFill>
            <a:prstDash val="solid"/>
          </a:ln>
        </p:spPr>
      </p:sp>
      <p:sp>
        <p:nvSpPr>
          <p:cNvPr id="29" name="s3-30-publish-off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0" name="s3-31-publish-on"/>
          <p:cNvSpPr/>
          <p:nvPr/>
        </p:nvSpPr>
        <p:spPr>
          <a:xfrm>
            <a:off x="2743200" y="4709160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D9622B"/>
          </a:solidFill>
          <a:ln w="12700">
            <a:solidFill>
              <a:srgbClr val="D9622B"/>
            </a:solidFill>
            <a:prstDash val="solid"/>
          </a:ln>
        </p:spPr>
      </p:sp>
      <p:sp>
        <p:nvSpPr>
          <p:cNvPr id="31" name="s3-32-publish-on-label"/>
          <p:cNvSpPr txBox="1"/>
          <p:nvPr/>
        </p:nvSpPr>
        <p:spPr>
          <a:xfrm>
            <a:off x="2743200" y="470916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400" dirty="0"/>
          </a:p>
        </p:txBody>
      </p:sp>
      <p:sp>
        <p:nvSpPr>
          <p:cNvPr id="32" name="s3-33-published-pill"/>
          <p:cNvSpPr/>
          <p:nvPr/>
        </p:nvSpPr>
        <p:spPr>
          <a:xfrm>
            <a:off x="4709160" y="2176272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33" name="s3-34-published-pill-label"/>
          <p:cNvSpPr txBox="1"/>
          <p:nvPr/>
        </p:nvSpPr>
        <p:spPr>
          <a:xfrm>
            <a:off x="4709160" y="2176272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900" dirty="0"/>
          </a:p>
        </p:txBody>
      </p:sp>
      <p:sp>
        <p:nvSpPr>
          <p:cNvPr id="34" name="s3-35-arrow-box-app"/>
          <p:cNvSpPr/>
          <p:nvPr/>
        </p:nvSpPr>
        <p:spPr>
          <a:xfrm>
            <a:off x="7388352" y="3611880"/>
            <a:ext cx="493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35" name="s3-36-app"/>
          <p:cNvSpPr/>
          <p:nvPr/>
        </p:nvSpPr>
        <p:spPr>
          <a:xfrm>
            <a:off x="7909560" y="1920240"/>
            <a:ext cx="3794760" cy="3383280"/>
          </a:xfrm>
          <a:prstGeom prst="roundRect">
            <a:avLst>
              <a:gd name="adj" fmla="val 3243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6" name="s3-37-app-logo"/>
          <p:cNvSpPr/>
          <p:nvPr/>
        </p:nvSpPr>
        <p:spPr>
          <a:xfrm>
            <a:off x="8110728" y="2057400"/>
            <a:ext cx="155448" cy="155448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37" name="s3-38-app-name"/>
          <p:cNvSpPr txBox="1"/>
          <p:nvPr/>
        </p:nvSpPr>
        <p:spPr>
          <a:xfrm>
            <a:off x="8348472" y="19933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300" dirty="0"/>
          </a:p>
        </p:txBody>
      </p:sp>
      <p:sp>
        <p:nvSpPr>
          <p:cNvPr id="38" name="s3-39-app-plan"/>
          <p:cNvSpPr txBox="1"/>
          <p:nvPr/>
        </p:nvSpPr>
        <p:spPr>
          <a:xfrm>
            <a:off x="10241280" y="199339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000" dirty="0"/>
          </a:p>
        </p:txBody>
      </p:sp>
      <p:sp>
        <p:nvSpPr>
          <p:cNvPr id="39" name="s3-40-app-rule"/>
          <p:cNvSpPr/>
          <p:nvPr/>
        </p:nvSpPr>
        <p:spPr>
          <a:xfrm>
            <a:off x="7909560" y="2359152"/>
            <a:ext cx="379476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0" name="s3-41-app-h"/>
          <p:cNvSpPr txBox="1"/>
          <p:nvPr/>
        </p:nvSpPr>
        <p:spPr>
          <a:xfrm>
            <a:off x="8138160" y="25420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400" dirty="0"/>
          </a:p>
        </p:txBody>
      </p:sp>
      <p:sp>
        <p:nvSpPr>
          <p:cNvPr id="41" name="s3-42-app-timer"/>
          <p:cNvSpPr txBox="1"/>
          <p:nvPr/>
        </p:nvSpPr>
        <p:spPr>
          <a:xfrm>
            <a:off x="813816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4400" dirty="0"/>
          </a:p>
        </p:txBody>
      </p:sp>
      <p:sp>
        <p:nvSpPr>
          <p:cNvPr id="42" name="s3-44-app-usage-new"/>
          <p:cNvSpPr txBox="1"/>
          <p:nvPr/>
        </p:nvSpPr>
        <p:spPr>
          <a:xfrm>
            <a:off x="8138160" y="367588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300" dirty="0"/>
          </a:p>
        </p:txBody>
      </p:sp>
      <p:sp>
        <p:nvSpPr>
          <p:cNvPr id="43" name="s3-47-app-btn-new"/>
          <p:cNvSpPr/>
          <p:nvPr/>
        </p:nvSpPr>
        <p:spPr>
          <a:xfrm>
            <a:off x="8138160" y="411480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4" name="s3-48-app-btn-new-label"/>
          <p:cNvSpPr txBox="1"/>
          <p:nvPr/>
        </p:nvSpPr>
        <p:spPr>
          <a:xfrm>
            <a:off x="813816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300" dirty="0"/>
          </a:p>
        </p:txBody>
      </p:sp>
      <p:sp>
        <p:nvSpPr>
          <p:cNvPr id="45" name="s3-49-app-divider"/>
          <p:cNvSpPr/>
          <p:nvPr/>
        </p:nvSpPr>
        <p:spPr>
          <a:xfrm>
            <a:off x="10451592" y="2606040"/>
            <a:ext cx="0" cy="205740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46" name="s3-50-summary-h"/>
          <p:cNvSpPr txBox="1"/>
          <p:nvPr/>
        </p:nvSpPr>
        <p:spPr>
          <a:xfrm>
            <a:off x="10588752" y="2542032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300" dirty="0"/>
          </a:p>
        </p:txBody>
      </p:sp>
      <p:sp>
        <p:nvSpPr>
          <p:cNvPr id="47" name="s3-52-summary-new"/>
          <p:cNvSpPr txBox="1"/>
          <p:nvPr/>
        </p:nvSpPr>
        <p:spPr>
          <a:xfrm>
            <a:off x="10588752" y="30632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1000" dirty="0"/>
          </a:p>
        </p:txBody>
      </p:sp>
      <p:sp>
        <p:nvSpPr>
          <p:cNvPr id="48" name="s3-54-bar-new"/>
          <p:cNvSpPr/>
          <p:nvPr/>
        </p:nvSpPr>
        <p:spPr>
          <a:xfrm>
            <a:off x="10616184" y="4206240"/>
            <a:ext cx="173736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49" name="s3-56-bar-new"/>
          <p:cNvSpPr/>
          <p:nvPr/>
        </p:nvSpPr>
        <p:spPr>
          <a:xfrm>
            <a:off x="10863072" y="3886200"/>
            <a:ext cx="173736" cy="68580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0" name="s3-58-bar-new"/>
          <p:cNvSpPr/>
          <p:nvPr/>
        </p:nvSpPr>
        <p:spPr>
          <a:xfrm>
            <a:off x="11109960" y="4069080"/>
            <a:ext cx="173736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1" name="s3-60-bar-new"/>
          <p:cNvSpPr/>
          <p:nvPr/>
        </p:nvSpPr>
        <p:spPr>
          <a:xfrm>
            <a:off x="11356848" y="3703320"/>
            <a:ext cx="173736" cy="8686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52" name="s3-63-app-updated"/>
          <p:cNvSpPr/>
          <p:nvPr/>
        </p:nvSpPr>
        <p:spPr>
          <a:xfrm>
            <a:off x="9829800" y="480060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53" name="s3-64-app-updated-label"/>
          <p:cNvSpPr txBox="1"/>
          <p:nvPr/>
        </p:nvSpPr>
        <p:spPr>
          <a:xfrm>
            <a:off x="9829800" y="4800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1000" dirty="0"/>
          </a:p>
        </p:txBody>
      </p:sp>
      <p:sp>
        <p:nvSpPr>
          <p:cNvPr id="54" name="s3-65-takeaway"/>
          <p:cNvSpPr txBox="1"/>
          <p:nvPr/>
        </p:nvSpPr>
        <p:spPr>
          <a:xfrm>
            <a:off x="548640" y="6108192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code changes  ·  no redeploy  ·  the app adapts almost in real time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6-arrow-john-box"/>
          <p:cNvSpPr/>
          <p:nvPr/>
        </p:nvSpPr>
        <p:spPr>
          <a:xfrm>
            <a:off x="1892808" y="1133856"/>
            <a:ext cx="0" cy="17373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" name="s4-7-blackbox"/>
          <p:cNvSpPr/>
          <p:nvPr/>
        </p:nvSpPr>
        <p:spPr>
          <a:xfrm>
            <a:off x="320040" y="1325880"/>
            <a:ext cx="7178040" cy="5257800"/>
          </a:xfrm>
          <a:prstGeom prst="roundRect">
            <a:avLst>
              <a:gd name="adj" fmla="val 2783"/>
            </a:avLst>
          </a:prstGeom>
          <a:solidFill>
            <a:srgbClr val="1D1D1F"/>
          </a:solidFill>
          <a:ln w="15875">
            <a:solidFill>
              <a:srgbClr val="1D1D1F"/>
            </a:solidFill>
            <a:prstDash val="solid"/>
          </a:ln>
        </p:spPr>
      </p:sp>
      <p:sp>
        <p:nvSpPr>
          <p:cNvPr id="9" name="s4-8-blackbox-label"/>
          <p:cNvSpPr txBox="1"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s4-9-blackbox-q"/>
          <p:cNvSpPr txBox="1"/>
          <p:nvPr/>
        </p:nvSpPr>
        <p:spPr>
          <a:xfrm>
            <a:off x="320040" y="3200400"/>
            <a:ext cx="7178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11" name="s4-10-arrow-box-tm"/>
          <p:cNvSpPr/>
          <p:nvPr/>
        </p:nvSpPr>
        <p:spPr>
          <a:xfrm>
            <a:off x="7516368" y="3931920"/>
            <a:ext cx="420624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12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13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14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5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6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7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8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9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20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21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22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23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24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5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6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7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8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9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30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2-editor-val-old"/>
          <p:cNvSpPr txBox="1"/>
          <p:nvPr/>
        </p:nvSpPr>
        <p:spPr>
          <a:xfrm>
            <a:off x="2331720" y="2926080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8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6-editor-val-old"/>
          <p:cNvSpPr txBox="1"/>
          <p:nvPr/>
        </p:nvSpPr>
        <p:spPr>
          <a:xfrm>
            <a:off x="2331720" y="3319272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</a:t>
            </a:r>
            <a:endParaRPr lang="en-US" sz="1200" dirty="0"/>
          </a:p>
        </p:txBody>
      </p:sp>
      <p:sp>
        <p:nvSpPr>
          <p:cNvPr id="51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8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4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8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4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8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9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60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1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62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63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64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5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66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7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68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69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70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71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8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4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8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9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60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1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62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63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64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5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66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7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68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69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70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71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4-90-sync"/>
          <p:cNvSpPr/>
          <p:nvPr/>
        </p:nvSpPr>
        <p:spPr>
          <a:xfrm>
            <a:off x="438912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74" name="s4-91-sync-title"/>
          <p:cNvSpPr txBox="1"/>
          <p:nvPr/>
        </p:nvSpPr>
        <p:spPr>
          <a:xfrm>
            <a:off x="4389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75" name="s4-92-sync-sub"/>
          <p:cNvSpPr txBox="1"/>
          <p:nvPr/>
        </p:nvSpPr>
        <p:spPr>
          <a:xfrm>
            <a:off x="438912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100" dirty="0"/>
          </a:p>
        </p:txBody>
      </p:sp>
      <p:sp>
        <p:nvSpPr>
          <p:cNvPr id="76" name="s4-93-arrow-poll"/>
          <p:cNvSpPr/>
          <p:nvPr/>
        </p:nvSpPr>
        <p:spPr>
          <a:xfrm>
            <a:off x="3639312" y="245059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77" name="s4-94-lbl"/>
          <p:cNvSpPr txBox="1"/>
          <p:nvPr/>
        </p:nvSpPr>
        <p:spPr>
          <a:xfrm>
            <a:off x="3789274" y="2130552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78" name="s4-95-badge"/>
          <p:cNvSpPr/>
          <p:nvPr/>
        </p:nvSpPr>
        <p:spPr>
          <a:xfrm>
            <a:off x="42519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s4-96-badge-n"/>
          <p:cNvSpPr txBox="1"/>
          <p:nvPr/>
        </p:nvSpPr>
        <p:spPr>
          <a:xfrm>
            <a:off x="4251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8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4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8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9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60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1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62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63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64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5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66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7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68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69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70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71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4-90-sync"/>
          <p:cNvSpPr/>
          <p:nvPr/>
        </p:nvSpPr>
        <p:spPr>
          <a:xfrm>
            <a:off x="438912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74" name="s4-91-sync-title"/>
          <p:cNvSpPr txBox="1"/>
          <p:nvPr/>
        </p:nvSpPr>
        <p:spPr>
          <a:xfrm>
            <a:off x="4389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75" name="s4-92-sync-sub"/>
          <p:cNvSpPr txBox="1"/>
          <p:nvPr/>
        </p:nvSpPr>
        <p:spPr>
          <a:xfrm>
            <a:off x="438912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100" dirty="0"/>
          </a:p>
        </p:txBody>
      </p:sp>
      <p:sp>
        <p:nvSpPr>
          <p:cNvPr id="76" name="s4-93-arrow-poll"/>
          <p:cNvSpPr/>
          <p:nvPr/>
        </p:nvSpPr>
        <p:spPr>
          <a:xfrm>
            <a:off x="3639312" y="245059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77" name="s4-94-lbl"/>
          <p:cNvSpPr txBox="1"/>
          <p:nvPr/>
        </p:nvSpPr>
        <p:spPr>
          <a:xfrm>
            <a:off x="3789274" y="2130552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78" name="s4-95-badge"/>
          <p:cNvSpPr/>
          <p:nvPr/>
        </p:nvSpPr>
        <p:spPr>
          <a:xfrm>
            <a:off x="42519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s4-96-badge-n"/>
          <p:cNvSpPr txBox="1"/>
          <p:nvPr/>
        </p:nvSpPr>
        <p:spPr>
          <a:xfrm>
            <a:off x="4251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80" name="s4-98-arrow-new-version"/>
          <p:cNvSpPr/>
          <p:nvPr/>
        </p:nvSpPr>
        <p:spPr>
          <a:xfrm>
            <a:off x="3639312" y="345643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1" name="s4-99-lbl"/>
          <p:cNvSpPr txBox="1"/>
          <p:nvPr/>
        </p:nvSpPr>
        <p:spPr>
          <a:xfrm>
            <a:off x="3716122" y="3154680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100" dirty="0"/>
          </a:p>
        </p:txBody>
      </p:sp>
      <p:sp>
        <p:nvSpPr>
          <p:cNvPr id="82" name="s4-100-lbl"/>
          <p:cNvSpPr txBox="1"/>
          <p:nvPr/>
        </p:nvSpPr>
        <p:spPr>
          <a:xfrm>
            <a:off x="3716122" y="353872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83" name="s4-101-import"/>
          <p:cNvSpPr/>
          <p:nvPr/>
        </p:nvSpPr>
        <p:spPr>
          <a:xfrm>
            <a:off x="4389120" y="31089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84" name="s4-102-import-title"/>
          <p:cNvSpPr txBox="1"/>
          <p:nvPr/>
        </p:nvSpPr>
        <p:spPr>
          <a:xfrm>
            <a:off x="43891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400" dirty="0"/>
          </a:p>
        </p:txBody>
      </p:sp>
      <p:sp>
        <p:nvSpPr>
          <p:cNvPr id="85" name="s4-103-import-sub"/>
          <p:cNvSpPr txBox="1"/>
          <p:nvPr/>
        </p:nvSpPr>
        <p:spPr>
          <a:xfrm>
            <a:off x="4389120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100" dirty="0"/>
          </a:p>
        </p:txBody>
      </p:sp>
      <p:sp>
        <p:nvSpPr>
          <p:cNvPr id="86" name="s4-104-badge"/>
          <p:cNvSpPr/>
          <p:nvPr/>
        </p:nvSpPr>
        <p:spPr>
          <a:xfrm>
            <a:off x="4251960" y="297180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s4-105-badge-n"/>
          <p:cNvSpPr txBox="1"/>
          <p:nvPr/>
        </p:nvSpPr>
        <p:spPr>
          <a:xfrm>
            <a:off x="42519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8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4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8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9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60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1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62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63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64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5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66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7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68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69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70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71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4-90-sync"/>
          <p:cNvSpPr/>
          <p:nvPr/>
        </p:nvSpPr>
        <p:spPr>
          <a:xfrm>
            <a:off x="438912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74" name="s4-91-sync-title"/>
          <p:cNvSpPr txBox="1"/>
          <p:nvPr/>
        </p:nvSpPr>
        <p:spPr>
          <a:xfrm>
            <a:off x="4389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75" name="s4-92-sync-sub"/>
          <p:cNvSpPr txBox="1"/>
          <p:nvPr/>
        </p:nvSpPr>
        <p:spPr>
          <a:xfrm>
            <a:off x="438912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100" dirty="0"/>
          </a:p>
        </p:txBody>
      </p:sp>
      <p:sp>
        <p:nvSpPr>
          <p:cNvPr id="76" name="s4-93-arrow-poll"/>
          <p:cNvSpPr/>
          <p:nvPr/>
        </p:nvSpPr>
        <p:spPr>
          <a:xfrm>
            <a:off x="3639312" y="245059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77" name="s4-94-lbl"/>
          <p:cNvSpPr txBox="1"/>
          <p:nvPr/>
        </p:nvSpPr>
        <p:spPr>
          <a:xfrm>
            <a:off x="3789274" y="2130552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78" name="s4-95-badge"/>
          <p:cNvSpPr/>
          <p:nvPr/>
        </p:nvSpPr>
        <p:spPr>
          <a:xfrm>
            <a:off x="42519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s4-96-badge-n"/>
          <p:cNvSpPr txBox="1"/>
          <p:nvPr/>
        </p:nvSpPr>
        <p:spPr>
          <a:xfrm>
            <a:off x="4251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80" name="s4-98-arrow-new-version"/>
          <p:cNvSpPr/>
          <p:nvPr/>
        </p:nvSpPr>
        <p:spPr>
          <a:xfrm>
            <a:off x="3639312" y="345643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1" name="s4-99-lbl"/>
          <p:cNvSpPr txBox="1"/>
          <p:nvPr/>
        </p:nvSpPr>
        <p:spPr>
          <a:xfrm>
            <a:off x="3716122" y="3154680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100" dirty="0"/>
          </a:p>
        </p:txBody>
      </p:sp>
      <p:sp>
        <p:nvSpPr>
          <p:cNvPr id="82" name="s4-100-lbl"/>
          <p:cNvSpPr txBox="1"/>
          <p:nvPr/>
        </p:nvSpPr>
        <p:spPr>
          <a:xfrm>
            <a:off x="3716122" y="353872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83" name="s4-101-import"/>
          <p:cNvSpPr/>
          <p:nvPr/>
        </p:nvSpPr>
        <p:spPr>
          <a:xfrm>
            <a:off x="4389120" y="31089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84" name="s4-102-import-title"/>
          <p:cNvSpPr txBox="1"/>
          <p:nvPr/>
        </p:nvSpPr>
        <p:spPr>
          <a:xfrm>
            <a:off x="43891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400" dirty="0"/>
          </a:p>
        </p:txBody>
      </p:sp>
      <p:sp>
        <p:nvSpPr>
          <p:cNvPr id="85" name="s4-103-import-sub"/>
          <p:cNvSpPr txBox="1"/>
          <p:nvPr/>
        </p:nvSpPr>
        <p:spPr>
          <a:xfrm>
            <a:off x="4389120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100" dirty="0"/>
          </a:p>
        </p:txBody>
      </p:sp>
      <p:sp>
        <p:nvSpPr>
          <p:cNvPr id="86" name="s4-104-badge"/>
          <p:cNvSpPr/>
          <p:nvPr/>
        </p:nvSpPr>
        <p:spPr>
          <a:xfrm>
            <a:off x="4251960" y="297180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s4-105-badge-n"/>
          <p:cNvSpPr txBox="1"/>
          <p:nvPr/>
        </p:nvSpPr>
        <p:spPr>
          <a:xfrm>
            <a:off x="42519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8" name="s4-106-arrow-import-migration"/>
          <p:cNvSpPr/>
          <p:nvPr/>
        </p:nvSpPr>
        <p:spPr>
          <a:xfrm>
            <a:off x="5852160" y="3794760"/>
            <a:ext cx="0" cy="30175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9" name="s4-107-migration"/>
          <p:cNvSpPr/>
          <p:nvPr/>
        </p:nvSpPr>
        <p:spPr>
          <a:xfrm>
            <a:off x="4389120" y="41148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90" name="s4-108-migration-title"/>
          <p:cNvSpPr txBox="1"/>
          <p:nvPr/>
        </p:nvSpPr>
        <p:spPr>
          <a:xfrm>
            <a:off x="43891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400" dirty="0"/>
          </a:p>
        </p:txBody>
      </p:sp>
      <p:sp>
        <p:nvSpPr>
          <p:cNvPr id="91" name="s4-109-migration-sub"/>
          <p:cNvSpPr txBox="1"/>
          <p:nvPr/>
        </p:nvSpPr>
        <p:spPr>
          <a:xfrm>
            <a:off x="4389120" y="4498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100" dirty="0"/>
          </a:p>
        </p:txBody>
      </p:sp>
      <p:sp>
        <p:nvSpPr>
          <p:cNvPr id="92" name="s4-110-migration-contracts"/>
          <p:cNvSpPr txBox="1"/>
          <p:nvPr/>
        </p:nvSpPr>
        <p:spPr>
          <a:xfrm>
            <a:off x="46177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contracts</a:t>
            </a:r>
            <a:endParaRPr lang="en-US" sz="1100" dirty="0"/>
          </a:p>
        </p:txBody>
      </p:sp>
      <p:sp>
        <p:nvSpPr>
          <p:cNvPr id="93" name="s4-112-contract-new"/>
          <p:cNvSpPr txBox="1"/>
          <p:nvPr/>
        </p:nvSpPr>
        <p:spPr>
          <a:xfrm>
            <a:off x="6263640" y="4846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94" name="s4-113-badge"/>
          <p:cNvSpPr/>
          <p:nvPr/>
        </p:nvSpPr>
        <p:spPr>
          <a:xfrm>
            <a:off x="4251960" y="397764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5" name="s4-114-badge-n"/>
          <p:cNvSpPr txBox="1"/>
          <p:nvPr/>
        </p:nvSpPr>
        <p:spPr>
          <a:xfrm>
            <a:off x="425196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8-ui-usage-old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3 pomodoros used</a:t>
            </a:r>
            <a:endParaRPr lang="en-US" sz="1100" dirty="0"/>
          </a:p>
        </p:txBody>
      </p:sp>
      <p:sp>
        <p:nvSpPr>
          <p:cNvPr id="15" name="s4-20-ui-btn-old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DCD6CE"/>
          </a:solidFill>
          <a:ln w="15875">
            <a:solidFill>
              <a:srgbClr val="DCD6CE"/>
            </a:solidFill>
            <a:prstDash val="solid"/>
          </a:ln>
        </p:spPr>
      </p:sp>
      <p:sp>
        <p:nvSpPr>
          <p:cNvPr id="16" name="s4-21-ui-btn-old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limit reached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6-ui-summary-old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Advanced</a:t>
            </a:r>
            <a:endParaRPr lang="en-US" sz="900" dirty="0"/>
          </a:p>
        </p:txBody>
      </p:sp>
      <p:sp>
        <p:nvSpPr>
          <p:cNvPr id="20" name="s4-28-ui-bar-old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1" name="s4-30-ui-bar-old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2" name="s4-32-ui-bar-old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3" name="s4-34-ui-bar-old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E3DED7"/>
          </a:solidFill>
          <a:ln w="12700">
            <a:solidFill>
              <a:srgbClr val="E3DED7"/>
            </a:solidFill>
            <a:prstDash val="solid"/>
          </a:ln>
        </p:spPr>
      </p:sp>
      <p:sp>
        <p:nvSpPr>
          <p:cNvPr id="24" name="s4-36-ui-lock-bg"/>
          <p:cNvSpPr/>
          <p:nvPr/>
        </p:nvSpPr>
        <p:spPr>
          <a:xfrm>
            <a:off x="10675620" y="3776472"/>
            <a:ext cx="402336" cy="402336"/>
          </a:xfrm>
          <a:prstGeom prst="ellipse">
            <a:avLst/>
          </a:prstGeom>
          <a:solidFill>
            <a:srgbClr val="FCF9F4"/>
          </a:solidFill>
          <a:ln w="12700">
            <a:solidFill>
              <a:srgbClr val="E3DED7"/>
            </a:solidFill>
            <a:prstDash val="solid"/>
          </a:ln>
        </p:spPr>
      </p:sp>
      <p:pic>
        <p:nvPicPr>
          <p:cNvPr id="25" name="s4-37-ui-lo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916" y="3858768"/>
            <a:ext cx="237744" cy="237744"/>
          </a:xfrm>
          <a:prstGeom prst="rect">
            <a:avLst/>
          </a:prstGeom>
        </p:spPr>
      </p:pic>
      <p:sp>
        <p:nvSpPr>
          <p:cNvPr id="26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7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8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9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0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1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2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3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4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5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6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7" name="s4-50-backend-limit-old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3 pomodoros / day</a:t>
            </a:r>
            <a:endParaRPr lang="en-US" sz="1100" dirty="0"/>
          </a:p>
        </p:txBody>
      </p:sp>
      <p:sp>
        <p:nvSpPr>
          <p:cNvPr id="38" name="s4-51-backend-summary-old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locked</a:t>
            </a:r>
            <a:endParaRPr lang="en-US" sz="1100" dirty="0"/>
          </a:p>
        </p:txBody>
      </p:sp>
      <p:sp>
        <p:nvSpPr>
          <p:cNvPr id="39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40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1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2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3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4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5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6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7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8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9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50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1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2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3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4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5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7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8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9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60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1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62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63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64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5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66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7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68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69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70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71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2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3" name="s4-90-sync"/>
          <p:cNvSpPr/>
          <p:nvPr/>
        </p:nvSpPr>
        <p:spPr>
          <a:xfrm>
            <a:off x="438912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74" name="s4-91-sync-title"/>
          <p:cNvSpPr txBox="1"/>
          <p:nvPr/>
        </p:nvSpPr>
        <p:spPr>
          <a:xfrm>
            <a:off x="4389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75" name="s4-92-sync-sub"/>
          <p:cNvSpPr txBox="1"/>
          <p:nvPr/>
        </p:nvSpPr>
        <p:spPr>
          <a:xfrm>
            <a:off x="438912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100" dirty="0"/>
          </a:p>
        </p:txBody>
      </p:sp>
      <p:sp>
        <p:nvSpPr>
          <p:cNvPr id="76" name="s4-93-arrow-poll"/>
          <p:cNvSpPr/>
          <p:nvPr/>
        </p:nvSpPr>
        <p:spPr>
          <a:xfrm>
            <a:off x="3639312" y="245059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77" name="s4-94-lbl"/>
          <p:cNvSpPr txBox="1"/>
          <p:nvPr/>
        </p:nvSpPr>
        <p:spPr>
          <a:xfrm>
            <a:off x="3789274" y="2130552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78" name="s4-95-badge"/>
          <p:cNvSpPr/>
          <p:nvPr/>
        </p:nvSpPr>
        <p:spPr>
          <a:xfrm>
            <a:off x="42519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9" name="s4-96-badge-n"/>
          <p:cNvSpPr txBox="1"/>
          <p:nvPr/>
        </p:nvSpPr>
        <p:spPr>
          <a:xfrm>
            <a:off x="4251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80" name="s4-98-arrow-new-version"/>
          <p:cNvSpPr/>
          <p:nvPr/>
        </p:nvSpPr>
        <p:spPr>
          <a:xfrm>
            <a:off x="3639312" y="345643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1" name="s4-99-lbl"/>
          <p:cNvSpPr txBox="1"/>
          <p:nvPr/>
        </p:nvSpPr>
        <p:spPr>
          <a:xfrm>
            <a:off x="3716122" y="3154680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100" dirty="0"/>
          </a:p>
        </p:txBody>
      </p:sp>
      <p:sp>
        <p:nvSpPr>
          <p:cNvPr id="82" name="s4-100-lbl"/>
          <p:cNvSpPr txBox="1"/>
          <p:nvPr/>
        </p:nvSpPr>
        <p:spPr>
          <a:xfrm>
            <a:off x="3716122" y="353872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83" name="s4-101-import"/>
          <p:cNvSpPr/>
          <p:nvPr/>
        </p:nvSpPr>
        <p:spPr>
          <a:xfrm>
            <a:off x="4389120" y="31089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84" name="s4-102-import-title"/>
          <p:cNvSpPr txBox="1"/>
          <p:nvPr/>
        </p:nvSpPr>
        <p:spPr>
          <a:xfrm>
            <a:off x="43891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400" dirty="0"/>
          </a:p>
        </p:txBody>
      </p:sp>
      <p:sp>
        <p:nvSpPr>
          <p:cNvPr id="85" name="s4-103-import-sub"/>
          <p:cNvSpPr txBox="1"/>
          <p:nvPr/>
        </p:nvSpPr>
        <p:spPr>
          <a:xfrm>
            <a:off x="4389120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100" dirty="0"/>
          </a:p>
        </p:txBody>
      </p:sp>
      <p:sp>
        <p:nvSpPr>
          <p:cNvPr id="86" name="s4-104-badge"/>
          <p:cNvSpPr/>
          <p:nvPr/>
        </p:nvSpPr>
        <p:spPr>
          <a:xfrm>
            <a:off x="4251960" y="297180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s4-105-badge-n"/>
          <p:cNvSpPr txBox="1"/>
          <p:nvPr/>
        </p:nvSpPr>
        <p:spPr>
          <a:xfrm>
            <a:off x="42519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8" name="s4-106-arrow-import-migration"/>
          <p:cNvSpPr/>
          <p:nvPr/>
        </p:nvSpPr>
        <p:spPr>
          <a:xfrm>
            <a:off x="5852160" y="3794760"/>
            <a:ext cx="0" cy="30175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9" name="s4-107-migration"/>
          <p:cNvSpPr/>
          <p:nvPr/>
        </p:nvSpPr>
        <p:spPr>
          <a:xfrm>
            <a:off x="4389120" y="41148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90" name="s4-108-migration-title"/>
          <p:cNvSpPr txBox="1"/>
          <p:nvPr/>
        </p:nvSpPr>
        <p:spPr>
          <a:xfrm>
            <a:off x="43891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400" dirty="0"/>
          </a:p>
        </p:txBody>
      </p:sp>
      <p:sp>
        <p:nvSpPr>
          <p:cNvPr id="91" name="s4-109-migration-sub"/>
          <p:cNvSpPr txBox="1"/>
          <p:nvPr/>
        </p:nvSpPr>
        <p:spPr>
          <a:xfrm>
            <a:off x="4389120" y="4498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100" dirty="0"/>
          </a:p>
        </p:txBody>
      </p:sp>
      <p:sp>
        <p:nvSpPr>
          <p:cNvPr id="92" name="s4-110-migration-contracts"/>
          <p:cNvSpPr txBox="1"/>
          <p:nvPr/>
        </p:nvSpPr>
        <p:spPr>
          <a:xfrm>
            <a:off x="46177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contracts</a:t>
            </a:r>
            <a:endParaRPr lang="en-US" sz="1100" dirty="0"/>
          </a:p>
        </p:txBody>
      </p:sp>
      <p:sp>
        <p:nvSpPr>
          <p:cNvPr id="93" name="s4-112-contract-new"/>
          <p:cNvSpPr txBox="1"/>
          <p:nvPr/>
        </p:nvSpPr>
        <p:spPr>
          <a:xfrm>
            <a:off x="6263640" y="4846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94" name="s4-113-badge"/>
          <p:cNvSpPr/>
          <p:nvPr/>
        </p:nvSpPr>
        <p:spPr>
          <a:xfrm>
            <a:off x="4251960" y="397764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5" name="s4-114-badge-n"/>
          <p:cNvSpPr txBox="1"/>
          <p:nvPr/>
        </p:nvSpPr>
        <p:spPr>
          <a:xfrm>
            <a:off x="425196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6" name="s4-115-arrow-migration-events"/>
          <p:cNvSpPr/>
          <p:nvPr/>
        </p:nvSpPr>
        <p:spPr>
          <a:xfrm>
            <a:off x="5852160" y="5303520"/>
            <a:ext cx="0" cy="34747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97" name="s4-116-events"/>
          <p:cNvSpPr/>
          <p:nvPr/>
        </p:nvSpPr>
        <p:spPr>
          <a:xfrm>
            <a:off x="4389120" y="56692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98" name="s4-117-events-title"/>
          <p:cNvSpPr txBox="1"/>
          <p:nvPr/>
        </p:nvSpPr>
        <p:spPr>
          <a:xfrm>
            <a:off x="438912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</a:t>
            </a:r>
            <a:endParaRPr lang="en-US" sz="1400" dirty="0"/>
          </a:p>
        </p:txBody>
      </p:sp>
      <p:sp>
        <p:nvSpPr>
          <p:cNvPr id="99" name="s4-118-events-sub"/>
          <p:cNvSpPr txBox="1"/>
          <p:nvPr/>
        </p:nvSpPr>
        <p:spPr>
          <a:xfrm>
            <a:off x="4389120" y="6053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pricing changes</a:t>
            </a:r>
            <a:endParaRPr lang="en-US" sz="1100" dirty="0"/>
          </a:p>
        </p:txBody>
      </p:sp>
      <p:sp>
        <p:nvSpPr>
          <p:cNvPr id="100" name="s4-119-badge"/>
          <p:cNvSpPr/>
          <p:nvPr/>
        </p:nvSpPr>
        <p:spPr>
          <a:xfrm>
            <a:off x="4251960" y="553212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s4-120-badge-n"/>
          <p:cNvSpPr txBox="1"/>
          <p:nvPr/>
        </p:nvSpPr>
        <p:spPr>
          <a:xfrm>
            <a:off x="4251960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4-1-john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256032"/>
            <a:ext cx="548640" cy="548640"/>
          </a:xfrm>
          <a:prstGeom prst="rect">
            <a:avLst/>
          </a:prstGeom>
        </p:spPr>
      </p:pic>
      <p:sp>
        <p:nvSpPr>
          <p:cNvPr id="3" name="s4-2-john-name"/>
          <p:cNvSpPr txBox="1"/>
          <p:nvPr/>
        </p:nvSpPr>
        <p:spPr>
          <a:xfrm>
            <a:off x="978408" y="8412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1300" dirty="0"/>
          </a:p>
        </p:txBody>
      </p:sp>
      <p:sp>
        <p:nvSpPr>
          <p:cNvPr id="4" name="s4-3-tm"/>
          <p:cNvSpPr/>
          <p:nvPr/>
        </p:nvSpPr>
        <p:spPr>
          <a:xfrm>
            <a:off x="7955280" y="1325880"/>
            <a:ext cx="3931920" cy="5257800"/>
          </a:xfrm>
          <a:prstGeom prst="roundRect">
            <a:avLst>
              <a:gd name="adj" fmla="val 3256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4-4-tm-head"/>
          <p:cNvSpPr txBox="1"/>
          <p:nvPr/>
        </p:nvSpPr>
        <p:spPr>
          <a:xfrm>
            <a:off x="8138160" y="141732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4-5-tm-role"/>
          <p:cNvSpPr txBox="1"/>
          <p:nvPr/>
        </p:nvSpPr>
        <p:spPr>
          <a:xfrm>
            <a:off x="813816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4-11-ui"/>
          <p:cNvSpPr/>
          <p:nvPr/>
        </p:nvSpPr>
        <p:spPr>
          <a:xfrm>
            <a:off x="8138160" y="2286000"/>
            <a:ext cx="3383280" cy="2395728"/>
          </a:xfrm>
          <a:prstGeom prst="roundRect">
            <a:avLst>
              <a:gd name="adj" fmla="val 3817"/>
            </a:avLst>
          </a:prstGeom>
          <a:solidFill>
            <a:srgbClr val="FCF9F4"/>
          </a:solidFill>
          <a:ln w="15875">
            <a:solidFill>
              <a:srgbClr val="CFC8BE"/>
            </a:solidFill>
            <a:prstDash val="solid"/>
          </a:ln>
        </p:spPr>
      </p:sp>
      <p:sp>
        <p:nvSpPr>
          <p:cNvPr id="8" name="s4-12-ui-logo"/>
          <p:cNvSpPr/>
          <p:nvPr/>
        </p:nvSpPr>
        <p:spPr>
          <a:xfrm>
            <a:off x="8302752" y="2404872"/>
            <a:ext cx="137160" cy="137160"/>
          </a:xfrm>
          <a:prstGeom prst="ellipse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9" name="s4-13-ui-name"/>
          <p:cNvSpPr txBox="1"/>
          <p:nvPr/>
        </p:nvSpPr>
        <p:spPr>
          <a:xfrm>
            <a:off x="8503920" y="23408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200" dirty="0"/>
          </a:p>
        </p:txBody>
      </p:sp>
      <p:sp>
        <p:nvSpPr>
          <p:cNvPr id="10" name="s4-14-ui-plan"/>
          <p:cNvSpPr txBox="1"/>
          <p:nvPr/>
        </p:nvSpPr>
        <p:spPr>
          <a:xfrm>
            <a:off x="10241280" y="23408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100" kern="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900" dirty="0"/>
          </a:p>
        </p:txBody>
      </p:sp>
      <p:sp>
        <p:nvSpPr>
          <p:cNvPr id="11" name="s4-15-ui-rule"/>
          <p:cNvSpPr/>
          <p:nvPr/>
        </p:nvSpPr>
        <p:spPr>
          <a:xfrm>
            <a:off x="8138160" y="2670048"/>
            <a:ext cx="3383280" cy="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2" name="s4-16-ui-h"/>
          <p:cNvSpPr txBox="1"/>
          <p:nvPr/>
        </p:nvSpPr>
        <p:spPr>
          <a:xfrm>
            <a:off x="8321040" y="276148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for focused work.</a:t>
            </a:r>
            <a:endParaRPr lang="en-US" sz="1100" dirty="0"/>
          </a:p>
        </p:txBody>
      </p:sp>
      <p:sp>
        <p:nvSpPr>
          <p:cNvPr id="13" name="s4-17-ui-timer"/>
          <p:cNvSpPr txBox="1"/>
          <p:nvPr/>
        </p:nvSpPr>
        <p:spPr>
          <a:xfrm>
            <a:off x="8321040" y="3017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D1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25:00</a:t>
            </a:r>
            <a:endParaRPr lang="en-US" sz="3200" dirty="0"/>
          </a:p>
        </p:txBody>
      </p:sp>
      <p:sp>
        <p:nvSpPr>
          <p:cNvPr id="14" name="s4-19-ui-usage-new"/>
          <p:cNvSpPr txBox="1"/>
          <p:nvPr/>
        </p:nvSpPr>
        <p:spPr>
          <a:xfrm>
            <a:off x="8321040" y="35844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of 5 pomodoros used</a:t>
            </a:r>
            <a:endParaRPr lang="en-US" sz="1100" dirty="0"/>
          </a:p>
        </p:txBody>
      </p:sp>
      <p:sp>
        <p:nvSpPr>
          <p:cNvPr id="15" name="s4-22-ui-btn-new"/>
          <p:cNvSpPr/>
          <p:nvPr/>
        </p:nvSpPr>
        <p:spPr>
          <a:xfrm>
            <a:off x="8321040" y="3913632"/>
            <a:ext cx="1828800" cy="384048"/>
          </a:xfrm>
          <a:prstGeom prst="roundRect">
            <a:avLst>
              <a:gd name="adj" fmla="val 14286"/>
            </a:avLst>
          </a:prstGeom>
          <a:solidFill>
            <a:srgbClr val="B8432F"/>
          </a:solidFill>
          <a:ln w="15875">
            <a:solidFill>
              <a:srgbClr val="B8432F"/>
            </a:solidFill>
            <a:prstDash val="solid"/>
          </a:ln>
        </p:spPr>
      </p:sp>
      <p:sp>
        <p:nvSpPr>
          <p:cNvPr id="16" name="s4-23-ui-btn-new-label"/>
          <p:cNvSpPr txBox="1"/>
          <p:nvPr/>
        </p:nvSpPr>
        <p:spPr>
          <a:xfrm>
            <a:off x="8321040" y="391363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focus session</a:t>
            </a:r>
            <a:endParaRPr lang="en-US" sz="1100" dirty="0"/>
          </a:p>
        </p:txBody>
      </p:sp>
      <p:sp>
        <p:nvSpPr>
          <p:cNvPr id="17" name="s4-24-ui-divider"/>
          <p:cNvSpPr/>
          <p:nvPr/>
        </p:nvSpPr>
        <p:spPr>
          <a:xfrm>
            <a:off x="10314432" y="2788920"/>
            <a:ext cx="0" cy="1508760"/>
          </a:xfrm>
          <a:prstGeom prst="line">
            <a:avLst/>
          </a:prstGeom>
          <a:noFill/>
          <a:ln w="9525">
            <a:solidFill>
              <a:srgbClr val="E4DED5"/>
            </a:solidFill>
            <a:prstDash val="solid"/>
          </a:ln>
        </p:spPr>
      </p:sp>
      <p:sp>
        <p:nvSpPr>
          <p:cNvPr id="18" name="s4-25-ui-summary-h"/>
          <p:cNvSpPr txBox="1"/>
          <p:nvPr/>
        </p:nvSpPr>
        <p:spPr>
          <a:xfrm>
            <a:off x="10424160" y="276148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100" dirty="0"/>
          </a:p>
        </p:txBody>
      </p:sp>
      <p:sp>
        <p:nvSpPr>
          <p:cNvPr id="19" name="s4-27-ui-summary-new"/>
          <p:cNvSpPr txBox="1"/>
          <p:nvPr/>
        </p:nvSpPr>
        <p:spPr>
          <a:xfrm>
            <a:off x="10424160" y="3154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 in Basic</a:t>
            </a:r>
            <a:endParaRPr lang="en-US" sz="900" dirty="0"/>
          </a:p>
        </p:txBody>
      </p:sp>
      <p:sp>
        <p:nvSpPr>
          <p:cNvPr id="20" name="s4-29-ui-bar-new"/>
          <p:cNvSpPr/>
          <p:nvPr/>
        </p:nvSpPr>
        <p:spPr>
          <a:xfrm>
            <a:off x="10460736" y="4023360"/>
            <a:ext cx="146304" cy="2743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21" name="s4-31-ui-bar-new"/>
          <p:cNvSpPr/>
          <p:nvPr/>
        </p:nvSpPr>
        <p:spPr>
          <a:xfrm>
            <a:off x="10689336" y="3794760"/>
            <a:ext cx="146304" cy="50292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22" name="s4-33-ui-bar-new"/>
          <p:cNvSpPr/>
          <p:nvPr/>
        </p:nvSpPr>
        <p:spPr>
          <a:xfrm>
            <a:off x="10917936" y="3931920"/>
            <a:ext cx="146304" cy="36576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23" name="s4-35-ui-bar-new"/>
          <p:cNvSpPr/>
          <p:nvPr/>
        </p:nvSpPr>
        <p:spPr>
          <a:xfrm>
            <a:off x="11146536" y="3657600"/>
            <a:ext cx="146304" cy="640080"/>
          </a:xfrm>
          <a:prstGeom prst="rect">
            <a:avLst/>
          </a:prstGeom>
          <a:solidFill>
            <a:srgbClr val="B8432F"/>
          </a:solidFill>
          <a:ln w="12700">
            <a:solidFill>
              <a:srgbClr val="B8432F"/>
            </a:solidFill>
            <a:prstDash val="solid"/>
          </a:ln>
        </p:spPr>
      </p:sp>
      <p:sp>
        <p:nvSpPr>
          <p:cNvPr id="24" name="s4-38-ui-updated"/>
          <p:cNvSpPr txBox="1"/>
          <p:nvPr/>
        </p:nvSpPr>
        <p:spPr>
          <a:xfrm>
            <a:off x="10058400" y="4379976"/>
            <a:ext cx="1325880" cy="219456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PRICING UPDATED</a:t>
            </a:r>
            <a:endParaRPr lang="en-US" sz="900" dirty="0"/>
          </a:p>
        </p:txBody>
      </p:sp>
      <p:sp>
        <p:nvSpPr>
          <p:cNvPr id="25" name="s4-39-sphere"/>
          <p:cNvSpPr/>
          <p:nvPr/>
        </p:nvSpPr>
        <p:spPr>
          <a:xfrm>
            <a:off x="320040" y="1325880"/>
            <a:ext cx="3429000" cy="5257800"/>
          </a:xfrm>
          <a:prstGeom prst="roundRect">
            <a:avLst>
              <a:gd name="adj" fmla="val 3733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26" name="s4-40-sphere-head"/>
          <p:cNvSpPr txBox="1"/>
          <p:nvPr/>
        </p:nvSpPr>
        <p:spPr>
          <a:xfrm>
            <a:off x="5029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27" name="s4-41-sphere-role"/>
          <p:cNvSpPr txBox="1"/>
          <p:nvPr/>
        </p:nvSpPr>
        <p:spPr>
          <a:xfrm>
            <a:off x="50292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28" name="s4-42-api"/>
          <p:cNvSpPr/>
          <p:nvPr/>
        </p:nvSpPr>
        <p:spPr>
          <a:xfrm>
            <a:off x="3401568" y="2103120"/>
            <a:ext cx="219456" cy="4297680"/>
          </a:xfrm>
          <a:prstGeom prst="roundRect">
            <a:avLst>
              <a:gd name="adj" fmla="val 20833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9" name="s4-43-api-label"/>
          <p:cNvSpPr txBox="1"/>
          <p:nvPr/>
        </p:nvSpPr>
        <p:spPr>
          <a:xfrm>
            <a:off x="3401568" y="2103120"/>
            <a:ext cx="21945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30" name="s4-44-space"/>
          <p:cNvSpPr/>
          <p:nvPr/>
        </p:nvSpPr>
        <p:spPr>
          <a:xfrm>
            <a:off x="4206240" y="1325880"/>
            <a:ext cx="3291840" cy="5257800"/>
          </a:xfrm>
          <a:prstGeom prst="roundRect">
            <a:avLst>
              <a:gd name="adj" fmla="val 3889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31" name="s4-45-space-head"/>
          <p:cNvSpPr txBox="1"/>
          <p:nvPr/>
        </p:nvSpPr>
        <p:spPr>
          <a:xfrm>
            <a:off x="4389120" y="14173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32" name="s4-46-space-role"/>
          <p:cNvSpPr txBox="1"/>
          <p:nvPr/>
        </p:nvSpPr>
        <p:spPr>
          <a:xfrm>
            <a:off x="438912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33" name="s4-47-fe-label"/>
          <p:cNvSpPr txBox="1"/>
          <p:nvPr/>
        </p:nvSpPr>
        <p:spPr>
          <a:xfrm>
            <a:off x="8339328" y="202996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900" dirty="0"/>
          </a:p>
        </p:txBody>
      </p:sp>
      <p:sp>
        <p:nvSpPr>
          <p:cNvPr id="34" name="s4-48-backend"/>
          <p:cNvSpPr/>
          <p:nvPr/>
        </p:nvSpPr>
        <p:spPr>
          <a:xfrm>
            <a:off x="8138160" y="4846320"/>
            <a:ext cx="33832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35" name="s4-49-backend-title"/>
          <p:cNvSpPr txBox="1"/>
          <p:nvPr/>
        </p:nvSpPr>
        <p:spPr>
          <a:xfrm>
            <a:off x="8138160" y="4901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300" dirty="0"/>
          </a:p>
        </p:txBody>
      </p:sp>
      <p:sp>
        <p:nvSpPr>
          <p:cNvPr id="36" name="s4-52-backend-limit-new"/>
          <p:cNvSpPr txBox="1"/>
          <p:nvPr/>
        </p:nvSpPr>
        <p:spPr>
          <a:xfrm>
            <a:off x="8138160" y="51937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limit: 5 pomodoros / day</a:t>
            </a:r>
            <a:endParaRPr lang="en-US" sz="1100" dirty="0"/>
          </a:p>
        </p:txBody>
      </p:sp>
      <p:sp>
        <p:nvSpPr>
          <p:cNvPr id="37" name="s4-53-backend-summary-new"/>
          <p:cNvSpPr txBox="1"/>
          <p:nvPr/>
        </p:nvSpPr>
        <p:spPr>
          <a:xfrm>
            <a:off x="8138160" y="54223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7A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 summary: enabled</a:t>
            </a:r>
            <a:endParaRPr lang="en-US" sz="1100" dirty="0"/>
          </a:p>
        </p:txBody>
      </p:sp>
      <p:sp>
        <p:nvSpPr>
          <p:cNvPr id="38" name="s4-54-editor"/>
          <p:cNvSpPr/>
          <p:nvPr/>
        </p:nvSpPr>
        <p:spPr>
          <a:xfrm>
            <a:off x="502920" y="2103120"/>
            <a:ext cx="27889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39" name="s4-55-editor-dot"/>
          <p:cNvSpPr/>
          <p:nvPr/>
        </p:nvSpPr>
        <p:spPr>
          <a:xfrm>
            <a:off x="640080" y="2221992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40" name="s4-56-editor-dot"/>
          <p:cNvSpPr/>
          <p:nvPr/>
        </p:nvSpPr>
        <p:spPr>
          <a:xfrm>
            <a:off x="795528" y="2221992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1" name="s4-57-editor-dot"/>
          <p:cNvSpPr/>
          <p:nvPr/>
        </p:nvSpPr>
        <p:spPr>
          <a:xfrm>
            <a:off x="950976" y="2221992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42" name="s4-58-editor-title"/>
          <p:cNvSpPr txBox="1"/>
          <p:nvPr/>
        </p:nvSpPr>
        <p:spPr>
          <a:xfrm>
            <a:off x="1143000" y="215798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000" dirty="0"/>
          </a:p>
        </p:txBody>
      </p:sp>
      <p:sp>
        <p:nvSpPr>
          <p:cNvPr id="43" name="s4-59-editor-chrome-rule"/>
          <p:cNvSpPr/>
          <p:nvPr/>
        </p:nvSpPr>
        <p:spPr>
          <a:xfrm>
            <a:off x="502920" y="2450592"/>
            <a:ext cx="2788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4" name="s4-60-editor-plan"/>
          <p:cNvSpPr txBox="1"/>
          <p:nvPr/>
        </p:nvSpPr>
        <p:spPr>
          <a:xfrm>
            <a:off x="68580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plan</a:t>
            </a:r>
            <a:endParaRPr lang="en-US" sz="1300" dirty="0"/>
          </a:p>
        </p:txBody>
      </p:sp>
      <p:sp>
        <p:nvSpPr>
          <p:cNvPr id="45" name="s4-61-editor-key"/>
          <p:cNvSpPr txBox="1"/>
          <p:nvPr/>
        </p:nvSpPr>
        <p:spPr>
          <a:xfrm>
            <a:off x="685800" y="2926080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Pomodoros / day</a:t>
            </a:r>
            <a:endParaRPr lang="en-US" sz="1200" dirty="0"/>
          </a:p>
        </p:txBody>
      </p:sp>
      <p:sp>
        <p:nvSpPr>
          <p:cNvPr id="46" name="s4-63-editor-rule"/>
          <p:cNvSpPr/>
          <p:nvPr/>
        </p:nvSpPr>
        <p:spPr>
          <a:xfrm>
            <a:off x="685800" y="3291840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47" name="s4-64-editor-val-new"/>
          <p:cNvSpPr txBox="1"/>
          <p:nvPr/>
        </p:nvSpPr>
        <p:spPr>
          <a:xfrm>
            <a:off x="2331720" y="295351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s4-65-editor-key"/>
          <p:cNvSpPr txBox="1"/>
          <p:nvPr/>
        </p:nvSpPr>
        <p:spPr>
          <a:xfrm>
            <a:off x="685800" y="3319272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summary</a:t>
            </a:r>
            <a:endParaRPr lang="en-US" sz="1200" dirty="0"/>
          </a:p>
        </p:txBody>
      </p:sp>
      <p:sp>
        <p:nvSpPr>
          <p:cNvPr id="49" name="s4-67-editor-rule"/>
          <p:cNvSpPr/>
          <p:nvPr/>
        </p:nvSpPr>
        <p:spPr>
          <a:xfrm>
            <a:off x="685800" y="3685032"/>
            <a:ext cx="24231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50" name="s4-68-editor-val-new"/>
          <p:cNvSpPr txBox="1"/>
          <p:nvPr/>
        </p:nvSpPr>
        <p:spPr>
          <a:xfrm>
            <a:off x="2331720" y="3346704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FDF1EC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62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200" dirty="0"/>
          </a:p>
        </p:txBody>
      </p:sp>
      <p:sp>
        <p:nvSpPr>
          <p:cNvPr id="51" name="s4-69-publish-off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F2F2F4"/>
          </a:solidFill>
          <a:ln w="15875">
            <a:solidFill>
              <a:srgbClr val="F2F2F4"/>
            </a:solidFill>
            <a:prstDash val="solid"/>
          </a:ln>
        </p:spPr>
      </p:sp>
      <p:sp>
        <p:nvSpPr>
          <p:cNvPr id="52" name="s4-70-publish-off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EAE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3" name="s4-71-arrow-john-editor"/>
          <p:cNvSpPr/>
          <p:nvPr/>
        </p:nvSpPr>
        <p:spPr>
          <a:xfrm>
            <a:off x="1892808" y="1133856"/>
            <a:ext cx="0" cy="950976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4" name="s4-72-badge"/>
          <p:cNvSpPr/>
          <p:nvPr/>
        </p:nvSpPr>
        <p:spPr>
          <a:xfrm>
            <a:off x="3657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5" name="s4-73-badge-n"/>
          <p:cNvSpPr txBox="1"/>
          <p:nvPr/>
        </p:nvSpPr>
        <p:spPr>
          <a:xfrm>
            <a:off x="3657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6" name="s4-74-publish-on"/>
          <p:cNvSpPr/>
          <p:nvPr/>
        </p:nvSpPr>
        <p:spPr>
          <a:xfrm>
            <a:off x="685800" y="3858768"/>
            <a:ext cx="2423160" cy="384048"/>
          </a:xfrm>
          <a:prstGeom prst="roundRect">
            <a:avLst>
              <a:gd name="adj" fmla="val 14286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57" name="s4-75-publish-on-label"/>
          <p:cNvSpPr txBox="1"/>
          <p:nvPr/>
        </p:nvSpPr>
        <p:spPr>
          <a:xfrm>
            <a:off x="685800" y="385876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new version</a:t>
            </a:r>
            <a:endParaRPr lang="en-US" sz="1200" dirty="0"/>
          </a:p>
        </p:txBody>
      </p:sp>
      <p:sp>
        <p:nvSpPr>
          <p:cNvPr id="58" name="s4-76-published"/>
          <p:cNvSpPr txBox="1"/>
          <p:nvPr/>
        </p:nvSpPr>
        <p:spPr>
          <a:xfrm>
            <a:off x="2286000" y="2167128"/>
            <a:ext cx="896112" cy="201168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PUBLISHED</a:t>
            </a:r>
            <a:endParaRPr lang="en-US" sz="800" dirty="0"/>
          </a:p>
        </p:txBody>
      </p:sp>
      <p:sp>
        <p:nvSpPr>
          <p:cNvPr id="59" name="s4-77-arrow-publish"/>
          <p:cNvSpPr/>
          <p:nvPr/>
        </p:nvSpPr>
        <p:spPr>
          <a:xfrm>
            <a:off x="1892808" y="4389120"/>
            <a:ext cx="0" cy="43891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0" name="s4-78-lbl"/>
          <p:cNvSpPr txBox="1"/>
          <p:nvPr/>
        </p:nvSpPr>
        <p:spPr>
          <a:xfrm>
            <a:off x="2066087" y="4489704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61" name="s4-79-history"/>
          <p:cNvSpPr/>
          <p:nvPr/>
        </p:nvSpPr>
        <p:spPr>
          <a:xfrm>
            <a:off x="502920" y="4846320"/>
            <a:ext cx="2788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62" name="s4-80-history-title"/>
          <p:cNvSpPr txBox="1"/>
          <p:nvPr/>
        </p:nvSpPr>
        <p:spPr>
          <a:xfrm>
            <a:off x="502920" y="491947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300" dirty="0"/>
          </a:p>
        </p:txBody>
      </p:sp>
      <p:sp>
        <p:nvSpPr>
          <p:cNvPr id="63" name="s4-81-version"/>
          <p:cNvSpPr/>
          <p:nvPr/>
        </p:nvSpPr>
        <p:spPr>
          <a:xfrm>
            <a:off x="685800" y="5303520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4" name="s4-82-version-label"/>
          <p:cNvSpPr txBox="1"/>
          <p:nvPr/>
        </p:nvSpPr>
        <p:spPr>
          <a:xfrm>
            <a:off x="795528" y="5303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100" dirty="0"/>
          </a:p>
        </p:txBody>
      </p:sp>
      <p:sp>
        <p:nvSpPr>
          <p:cNvPr id="65" name="s4-83-version"/>
          <p:cNvSpPr/>
          <p:nvPr/>
        </p:nvSpPr>
        <p:spPr>
          <a:xfrm>
            <a:off x="685800" y="5650992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66" name="s4-84-version-label"/>
          <p:cNvSpPr txBox="1"/>
          <p:nvPr/>
        </p:nvSpPr>
        <p:spPr>
          <a:xfrm>
            <a:off x="795528" y="5650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100" dirty="0"/>
          </a:p>
        </p:txBody>
      </p:sp>
      <p:sp>
        <p:nvSpPr>
          <p:cNvPr id="67" name="s4-85-version-new"/>
          <p:cNvSpPr/>
          <p:nvPr/>
        </p:nvSpPr>
        <p:spPr>
          <a:xfrm>
            <a:off x="685800" y="5998464"/>
            <a:ext cx="2423160" cy="274320"/>
          </a:xfrm>
          <a:prstGeom prst="roundRect">
            <a:avLst>
              <a:gd name="adj" fmla="val 16667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68" name="s4-86-version-new-label"/>
          <p:cNvSpPr txBox="1"/>
          <p:nvPr/>
        </p:nvSpPr>
        <p:spPr>
          <a:xfrm>
            <a:off x="795528" y="5998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1D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69" name="s4-87-version-new-tag"/>
          <p:cNvSpPr txBox="1"/>
          <p:nvPr/>
        </p:nvSpPr>
        <p:spPr>
          <a:xfrm>
            <a:off x="2377440" y="5998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100" dirty="0"/>
          </a:p>
        </p:txBody>
      </p:sp>
      <p:sp>
        <p:nvSpPr>
          <p:cNvPr id="70" name="s4-88-badge"/>
          <p:cNvSpPr/>
          <p:nvPr/>
        </p:nvSpPr>
        <p:spPr>
          <a:xfrm>
            <a:off x="36576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1" name="s4-89-badge-n"/>
          <p:cNvSpPr txBox="1"/>
          <p:nvPr/>
        </p:nvSpPr>
        <p:spPr>
          <a:xfrm>
            <a:off x="36576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2" name="s4-90-sync"/>
          <p:cNvSpPr/>
          <p:nvPr/>
        </p:nvSpPr>
        <p:spPr>
          <a:xfrm>
            <a:off x="4389120" y="210312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73" name="s4-91-sync-title"/>
          <p:cNvSpPr txBox="1"/>
          <p:nvPr/>
        </p:nvSpPr>
        <p:spPr>
          <a:xfrm>
            <a:off x="4389120" y="2194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74" name="s4-92-sync-sub"/>
          <p:cNvSpPr txBox="1"/>
          <p:nvPr/>
        </p:nvSpPr>
        <p:spPr>
          <a:xfrm>
            <a:off x="4389120" y="24871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100" dirty="0"/>
          </a:p>
        </p:txBody>
      </p:sp>
      <p:sp>
        <p:nvSpPr>
          <p:cNvPr id="75" name="s4-93-arrow-poll"/>
          <p:cNvSpPr/>
          <p:nvPr/>
        </p:nvSpPr>
        <p:spPr>
          <a:xfrm>
            <a:off x="3639312" y="245059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76" name="s4-94-lbl"/>
          <p:cNvSpPr txBox="1"/>
          <p:nvPr/>
        </p:nvSpPr>
        <p:spPr>
          <a:xfrm>
            <a:off x="3789274" y="2130552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77" name="s4-95-badge"/>
          <p:cNvSpPr/>
          <p:nvPr/>
        </p:nvSpPr>
        <p:spPr>
          <a:xfrm>
            <a:off x="4251960" y="19659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8" name="s4-96-badge-n"/>
          <p:cNvSpPr txBox="1"/>
          <p:nvPr/>
        </p:nvSpPr>
        <p:spPr>
          <a:xfrm>
            <a:off x="425196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79" name="s4-98-arrow-new-version"/>
          <p:cNvSpPr/>
          <p:nvPr/>
        </p:nvSpPr>
        <p:spPr>
          <a:xfrm>
            <a:off x="3639312" y="3456432"/>
            <a:ext cx="73152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0" name="s4-99-lbl"/>
          <p:cNvSpPr txBox="1"/>
          <p:nvPr/>
        </p:nvSpPr>
        <p:spPr>
          <a:xfrm>
            <a:off x="3716122" y="3154680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</a:t>
            </a:r>
            <a:endParaRPr lang="en-US" sz="1100" dirty="0"/>
          </a:p>
        </p:txBody>
      </p:sp>
      <p:sp>
        <p:nvSpPr>
          <p:cNvPr id="81" name="s4-100-lbl"/>
          <p:cNvSpPr txBox="1"/>
          <p:nvPr/>
        </p:nvSpPr>
        <p:spPr>
          <a:xfrm>
            <a:off x="3716122" y="353872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82" name="s4-101-import"/>
          <p:cNvSpPr/>
          <p:nvPr/>
        </p:nvSpPr>
        <p:spPr>
          <a:xfrm>
            <a:off x="4389120" y="310896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83" name="s4-102-import-title"/>
          <p:cNvSpPr txBox="1"/>
          <p:nvPr/>
        </p:nvSpPr>
        <p:spPr>
          <a:xfrm>
            <a:off x="438912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400" dirty="0"/>
          </a:p>
        </p:txBody>
      </p:sp>
      <p:sp>
        <p:nvSpPr>
          <p:cNvPr id="84" name="s4-103-import-sub"/>
          <p:cNvSpPr txBox="1"/>
          <p:nvPr/>
        </p:nvSpPr>
        <p:spPr>
          <a:xfrm>
            <a:off x="4389120" y="349300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100" dirty="0"/>
          </a:p>
        </p:txBody>
      </p:sp>
      <p:sp>
        <p:nvSpPr>
          <p:cNvPr id="85" name="s4-104-badge"/>
          <p:cNvSpPr/>
          <p:nvPr/>
        </p:nvSpPr>
        <p:spPr>
          <a:xfrm>
            <a:off x="4251960" y="297180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6" name="s4-105-badge-n"/>
          <p:cNvSpPr txBox="1"/>
          <p:nvPr/>
        </p:nvSpPr>
        <p:spPr>
          <a:xfrm>
            <a:off x="42519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87" name="s4-106-arrow-import-migration"/>
          <p:cNvSpPr/>
          <p:nvPr/>
        </p:nvSpPr>
        <p:spPr>
          <a:xfrm>
            <a:off x="5852160" y="3794760"/>
            <a:ext cx="0" cy="30175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8" name="s4-107-migration"/>
          <p:cNvSpPr/>
          <p:nvPr/>
        </p:nvSpPr>
        <p:spPr>
          <a:xfrm>
            <a:off x="4389120" y="4114800"/>
            <a:ext cx="29260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89" name="s4-108-migration-title"/>
          <p:cNvSpPr txBox="1"/>
          <p:nvPr/>
        </p:nvSpPr>
        <p:spPr>
          <a:xfrm>
            <a:off x="438912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400" dirty="0"/>
          </a:p>
        </p:txBody>
      </p:sp>
      <p:sp>
        <p:nvSpPr>
          <p:cNvPr id="90" name="s4-109-migration-sub"/>
          <p:cNvSpPr txBox="1"/>
          <p:nvPr/>
        </p:nvSpPr>
        <p:spPr>
          <a:xfrm>
            <a:off x="4389120" y="44988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100" dirty="0"/>
          </a:p>
        </p:txBody>
      </p:sp>
      <p:sp>
        <p:nvSpPr>
          <p:cNvPr id="91" name="s4-110-migration-contracts"/>
          <p:cNvSpPr txBox="1"/>
          <p:nvPr/>
        </p:nvSpPr>
        <p:spPr>
          <a:xfrm>
            <a:off x="46177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contracts</a:t>
            </a:r>
            <a:endParaRPr lang="en-US" sz="1100" dirty="0"/>
          </a:p>
        </p:txBody>
      </p:sp>
      <p:sp>
        <p:nvSpPr>
          <p:cNvPr id="92" name="s4-112-contract-new"/>
          <p:cNvSpPr txBox="1"/>
          <p:nvPr/>
        </p:nvSpPr>
        <p:spPr>
          <a:xfrm>
            <a:off x="6263640" y="484632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D9622B"/>
          </a:solidFill>
          <a:ln w="12700">
            <a:solidFill>
              <a:srgbClr val="D9622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100" dirty="0"/>
          </a:p>
        </p:txBody>
      </p:sp>
      <p:sp>
        <p:nvSpPr>
          <p:cNvPr id="93" name="s4-113-badge"/>
          <p:cNvSpPr/>
          <p:nvPr/>
        </p:nvSpPr>
        <p:spPr>
          <a:xfrm>
            <a:off x="4251960" y="397764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4" name="s4-114-badge-n"/>
          <p:cNvSpPr txBox="1"/>
          <p:nvPr/>
        </p:nvSpPr>
        <p:spPr>
          <a:xfrm>
            <a:off x="425196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95" name="s4-115-arrow-migration-events"/>
          <p:cNvSpPr/>
          <p:nvPr/>
        </p:nvSpPr>
        <p:spPr>
          <a:xfrm>
            <a:off x="5852160" y="5303520"/>
            <a:ext cx="0" cy="34747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96" name="s4-116-events"/>
          <p:cNvSpPr/>
          <p:nvPr/>
        </p:nvSpPr>
        <p:spPr>
          <a:xfrm>
            <a:off x="4389120" y="5669280"/>
            <a:ext cx="29260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97" name="s4-117-events-title"/>
          <p:cNvSpPr txBox="1"/>
          <p:nvPr/>
        </p:nvSpPr>
        <p:spPr>
          <a:xfrm>
            <a:off x="4389120" y="5760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</a:t>
            </a:r>
            <a:endParaRPr lang="en-US" sz="1400" dirty="0"/>
          </a:p>
        </p:txBody>
      </p:sp>
      <p:sp>
        <p:nvSpPr>
          <p:cNvPr id="98" name="s4-118-events-sub"/>
          <p:cNvSpPr txBox="1"/>
          <p:nvPr/>
        </p:nvSpPr>
        <p:spPr>
          <a:xfrm>
            <a:off x="4389120" y="605332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pricing changes</a:t>
            </a:r>
            <a:endParaRPr lang="en-US" sz="1100" dirty="0"/>
          </a:p>
        </p:txBody>
      </p:sp>
      <p:sp>
        <p:nvSpPr>
          <p:cNvPr id="99" name="s4-119-badge"/>
          <p:cNvSpPr/>
          <p:nvPr/>
        </p:nvSpPr>
        <p:spPr>
          <a:xfrm>
            <a:off x="4251960" y="553212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0" name="s4-120-badge-n"/>
          <p:cNvSpPr txBox="1"/>
          <p:nvPr/>
        </p:nvSpPr>
        <p:spPr>
          <a:xfrm>
            <a:off x="4251960" y="5532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01" name="s4-121-ws-1"/>
          <p:cNvSpPr/>
          <p:nvPr/>
        </p:nvSpPr>
        <p:spPr>
          <a:xfrm>
            <a:off x="7315200" y="6016752"/>
            <a:ext cx="4434840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102" name="s4-122-ws-2"/>
          <p:cNvSpPr/>
          <p:nvPr/>
        </p:nvSpPr>
        <p:spPr>
          <a:xfrm>
            <a:off x="11750040" y="3401568"/>
            <a:ext cx="0" cy="261518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103" name="s4-123-ws-3"/>
          <p:cNvSpPr/>
          <p:nvPr/>
        </p:nvSpPr>
        <p:spPr>
          <a:xfrm>
            <a:off x="11539728" y="3401568"/>
            <a:ext cx="210312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104" name="s4-124-ws-dot"/>
          <p:cNvSpPr/>
          <p:nvPr/>
        </p:nvSpPr>
        <p:spPr>
          <a:xfrm>
            <a:off x="9784080" y="5971032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5" name="s4-125-ws-backend"/>
          <p:cNvSpPr/>
          <p:nvPr/>
        </p:nvSpPr>
        <p:spPr>
          <a:xfrm>
            <a:off x="9829800" y="5733288"/>
            <a:ext cx="0" cy="28346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106" name="s4-126-lbl"/>
          <p:cNvSpPr txBox="1"/>
          <p:nvPr/>
        </p:nvSpPr>
        <p:spPr>
          <a:xfrm>
            <a:off x="8031175" y="5897880"/>
            <a:ext cx="1494130" cy="237744"/>
          </a:xfrm>
          <a:prstGeom prst="rect">
            <a:avLst/>
          </a:prstGeom>
          <a:solidFill>
            <a:srgbClr val="EAF6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 (WebSocket)</a:t>
            </a:r>
            <a:endParaRPr lang="en-US" sz="1100" dirty="0"/>
          </a:p>
        </p:txBody>
      </p:sp>
      <p:sp>
        <p:nvSpPr>
          <p:cNvPr id="107" name="s4-129-badge"/>
          <p:cNvSpPr/>
          <p:nvPr/>
        </p:nvSpPr>
        <p:spPr>
          <a:xfrm>
            <a:off x="8001000" y="470916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8" name="s4-130-badge-n"/>
          <p:cNvSpPr txBox="1"/>
          <p:nvPr/>
        </p:nvSpPr>
        <p:spPr>
          <a:xfrm>
            <a:off x="8001000" y="4709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109" name="s4-131-badge"/>
          <p:cNvSpPr/>
          <p:nvPr/>
        </p:nvSpPr>
        <p:spPr>
          <a:xfrm>
            <a:off x="8001000" y="2148840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0" name="s4-132-badge-n"/>
          <p:cNvSpPr txBox="1"/>
          <p:nvPr/>
        </p:nvSpPr>
        <p:spPr>
          <a:xfrm>
            <a:off x="800100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6-arrow"/>
          <p:cNvSpPr/>
          <p:nvPr/>
        </p:nvSpPr>
        <p:spPr>
          <a:xfrm>
            <a:off x="2414199" y="1623060"/>
            <a:ext cx="0" cy="13872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8" name="s5-7-blackbox"/>
          <p:cNvSpPr/>
          <p:nvPr/>
        </p:nvSpPr>
        <p:spPr>
          <a:xfrm>
            <a:off x="813542" y="1783126"/>
            <a:ext cx="6669405" cy="4801972"/>
          </a:xfrm>
          <a:prstGeom prst="roundRect">
            <a:avLst>
              <a:gd name="adj" fmla="val 3047"/>
            </a:avLst>
          </a:prstGeom>
          <a:solidFill>
            <a:srgbClr val="1D1D1F"/>
          </a:solidFill>
          <a:ln w="15875">
            <a:solidFill>
              <a:srgbClr val="1D1D1F"/>
            </a:solidFill>
            <a:prstDash val="solid"/>
          </a:ln>
        </p:spPr>
      </p:sp>
      <p:sp>
        <p:nvSpPr>
          <p:cNvPr id="9" name="s5-8-blackbox-label"/>
          <p:cNvSpPr txBox="1"/>
          <p:nvPr/>
        </p:nvSpPr>
        <p:spPr>
          <a:xfrm>
            <a:off x="1026963" y="1886087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s5-9-blackbox-q"/>
          <p:cNvSpPr txBox="1"/>
          <p:nvPr/>
        </p:nvSpPr>
        <p:spPr>
          <a:xfrm>
            <a:off x="813542" y="3223717"/>
            <a:ext cx="666940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5A5A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11" name="s5-10-arrow"/>
          <p:cNvSpPr/>
          <p:nvPr/>
        </p:nvSpPr>
        <p:spPr>
          <a:xfrm>
            <a:off x="7504289" y="4184112"/>
            <a:ext cx="650934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27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8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29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0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1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2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3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4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35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36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27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8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29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0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1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2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3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4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35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36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5-42-sync"/>
          <p:cNvSpPr/>
          <p:nvPr/>
        </p:nvSpPr>
        <p:spPr>
          <a:xfrm>
            <a:off x="4687132" y="2476744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39" name="s5-43-sync-title"/>
          <p:cNvSpPr txBox="1"/>
          <p:nvPr/>
        </p:nvSpPr>
        <p:spPr>
          <a:xfrm>
            <a:off x="4617400" y="257321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500" dirty="0"/>
          </a:p>
        </p:txBody>
      </p:sp>
      <p:sp>
        <p:nvSpPr>
          <p:cNvPr id="40" name="s5-44-sync-sub"/>
          <p:cNvSpPr txBox="1"/>
          <p:nvPr/>
        </p:nvSpPr>
        <p:spPr>
          <a:xfrm>
            <a:off x="4617400" y="284417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200" dirty="0"/>
          </a:p>
        </p:txBody>
      </p:sp>
      <p:sp>
        <p:nvSpPr>
          <p:cNvPr id="41" name="s5-45-arrow"/>
          <p:cNvSpPr/>
          <p:nvPr/>
        </p:nvSpPr>
        <p:spPr>
          <a:xfrm>
            <a:off x="3609356" y="2796875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42" name="s5-46-lbl"/>
          <p:cNvSpPr txBox="1"/>
          <p:nvPr/>
        </p:nvSpPr>
        <p:spPr>
          <a:xfrm>
            <a:off x="3916439" y="2528627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43" name="s5-47-badge"/>
          <p:cNvSpPr/>
          <p:nvPr/>
        </p:nvSpPr>
        <p:spPr>
          <a:xfrm>
            <a:off x="4549972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5-48-badge-n"/>
          <p:cNvSpPr txBox="1"/>
          <p:nvPr/>
        </p:nvSpPr>
        <p:spPr>
          <a:xfrm>
            <a:off x="4549972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27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8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29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0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1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2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3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4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35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36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5-42-sync"/>
          <p:cNvSpPr/>
          <p:nvPr/>
        </p:nvSpPr>
        <p:spPr>
          <a:xfrm>
            <a:off x="4687132" y="2476744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39" name="s5-43-sync-title"/>
          <p:cNvSpPr txBox="1"/>
          <p:nvPr/>
        </p:nvSpPr>
        <p:spPr>
          <a:xfrm>
            <a:off x="4617400" y="257321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500" dirty="0"/>
          </a:p>
        </p:txBody>
      </p:sp>
      <p:sp>
        <p:nvSpPr>
          <p:cNvPr id="40" name="s5-44-sync-sub"/>
          <p:cNvSpPr txBox="1"/>
          <p:nvPr/>
        </p:nvSpPr>
        <p:spPr>
          <a:xfrm>
            <a:off x="4617400" y="284417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200" dirty="0"/>
          </a:p>
        </p:txBody>
      </p:sp>
      <p:sp>
        <p:nvSpPr>
          <p:cNvPr id="41" name="s5-45-arrow"/>
          <p:cNvSpPr/>
          <p:nvPr/>
        </p:nvSpPr>
        <p:spPr>
          <a:xfrm>
            <a:off x="3609356" y="2796875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42" name="s5-46-lbl"/>
          <p:cNvSpPr txBox="1"/>
          <p:nvPr/>
        </p:nvSpPr>
        <p:spPr>
          <a:xfrm>
            <a:off x="3916439" y="2528627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43" name="s5-47-badge"/>
          <p:cNvSpPr/>
          <p:nvPr/>
        </p:nvSpPr>
        <p:spPr>
          <a:xfrm>
            <a:off x="4549972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5-48-badge-n"/>
          <p:cNvSpPr txBox="1"/>
          <p:nvPr/>
        </p:nvSpPr>
        <p:spPr>
          <a:xfrm>
            <a:off x="4549972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5-49-arrow"/>
          <p:cNvSpPr/>
          <p:nvPr/>
        </p:nvSpPr>
        <p:spPr>
          <a:xfrm>
            <a:off x="3588014" y="3735928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46" name="s5-50-lbl"/>
          <p:cNvSpPr txBox="1"/>
          <p:nvPr/>
        </p:nvSpPr>
        <p:spPr>
          <a:xfrm>
            <a:off x="3650806" y="3467679"/>
            <a:ext cx="962863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version</a:t>
            </a:r>
            <a:endParaRPr lang="en-US" sz="1100" dirty="0"/>
          </a:p>
        </p:txBody>
      </p:sp>
      <p:sp>
        <p:nvSpPr>
          <p:cNvPr id="47" name="s5-51-lbl"/>
          <p:cNvSpPr txBox="1"/>
          <p:nvPr/>
        </p:nvSpPr>
        <p:spPr>
          <a:xfrm>
            <a:off x="3916439" y="376646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48" name="s5-52-import"/>
          <p:cNvSpPr/>
          <p:nvPr/>
        </p:nvSpPr>
        <p:spPr>
          <a:xfrm>
            <a:off x="4687132" y="3415796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49" name="s5-53-import-title"/>
          <p:cNvSpPr txBox="1"/>
          <p:nvPr/>
        </p:nvSpPr>
        <p:spPr>
          <a:xfrm>
            <a:off x="4617400" y="3512268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500" dirty="0"/>
          </a:p>
        </p:txBody>
      </p:sp>
      <p:sp>
        <p:nvSpPr>
          <p:cNvPr id="50" name="s5-54-import-sub"/>
          <p:cNvSpPr txBox="1"/>
          <p:nvPr/>
        </p:nvSpPr>
        <p:spPr>
          <a:xfrm>
            <a:off x="4617400" y="3783226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200" dirty="0"/>
          </a:p>
        </p:txBody>
      </p:sp>
      <p:sp>
        <p:nvSpPr>
          <p:cNvPr id="51" name="s5-55-badge"/>
          <p:cNvSpPr/>
          <p:nvPr/>
        </p:nvSpPr>
        <p:spPr>
          <a:xfrm>
            <a:off x="4549972" y="3278636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5-56-badge-n"/>
          <p:cNvSpPr txBox="1"/>
          <p:nvPr/>
        </p:nvSpPr>
        <p:spPr>
          <a:xfrm>
            <a:off x="4549972" y="3278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27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8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29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0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1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2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3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4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35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36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5-42-sync"/>
          <p:cNvSpPr/>
          <p:nvPr/>
        </p:nvSpPr>
        <p:spPr>
          <a:xfrm>
            <a:off x="4687132" y="2476744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39" name="s5-43-sync-title"/>
          <p:cNvSpPr txBox="1"/>
          <p:nvPr/>
        </p:nvSpPr>
        <p:spPr>
          <a:xfrm>
            <a:off x="4617400" y="257321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500" dirty="0"/>
          </a:p>
        </p:txBody>
      </p:sp>
      <p:sp>
        <p:nvSpPr>
          <p:cNvPr id="40" name="s5-44-sync-sub"/>
          <p:cNvSpPr txBox="1"/>
          <p:nvPr/>
        </p:nvSpPr>
        <p:spPr>
          <a:xfrm>
            <a:off x="4617400" y="284417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200" dirty="0"/>
          </a:p>
        </p:txBody>
      </p:sp>
      <p:sp>
        <p:nvSpPr>
          <p:cNvPr id="41" name="s5-45-arrow"/>
          <p:cNvSpPr/>
          <p:nvPr/>
        </p:nvSpPr>
        <p:spPr>
          <a:xfrm>
            <a:off x="3609356" y="2796875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42" name="s5-46-lbl"/>
          <p:cNvSpPr txBox="1"/>
          <p:nvPr/>
        </p:nvSpPr>
        <p:spPr>
          <a:xfrm>
            <a:off x="3916439" y="2528627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43" name="s5-47-badge"/>
          <p:cNvSpPr/>
          <p:nvPr/>
        </p:nvSpPr>
        <p:spPr>
          <a:xfrm>
            <a:off x="4549972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5-48-badge-n"/>
          <p:cNvSpPr txBox="1"/>
          <p:nvPr/>
        </p:nvSpPr>
        <p:spPr>
          <a:xfrm>
            <a:off x="4549972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5-49-arrow"/>
          <p:cNvSpPr/>
          <p:nvPr/>
        </p:nvSpPr>
        <p:spPr>
          <a:xfrm>
            <a:off x="3588014" y="3735928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46" name="s5-50-lbl"/>
          <p:cNvSpPr txBox="1"/>
          <p:nvPr/>
        </p:nvSpPr>
        <p:spPr>
          <a:xfrm>
            <a:off x="3650806" y="3467679"/>
            <a:ext cx="962863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version</a:t>
            </a:r>
            <a:endParaRPr lang="en-US" sz="1100" dirty="0"/>
          </a:p>
        </p:txBody>
      </p:sp>
      <p:sp>
        <p:nvSpPr>
          <p:cNvPr id="47" name="s5-51-lbl"/>
          <p:cNvSpPr txBox="1"/>
          <p:nvPr/>
        </p:nvSpPr>
        <p:spPr>
          <a:xfrm>
            <a:off x="3916439" y="376646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48" name="s5-52-import"/>
          <p:cNvSpPr/>
          <p:nvPr/>
        </p:nvSpPr>
        <p:spPr>
          <a:xfrm>
            <a:off x="4687132" y="3415796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49" name="s5-53-import-title"/>
          <p:cNvSpPr txBox="1"/>
          <p:nvPr/>
        </p:nvSpPr>
        <p:spPr>
          <a:xfrm>
            <a:off x="4617400" y="3512268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500" dirty="0"/>
          </a:p>
        </p:txBody>
      </p:sp>
      <p:sp>
        <p:nvSpPr>
          <p:cNvPr id="50" name="s5-54-import-sub"/>
          <p:cNvSpPr txBox="1"/>
          <p:nvPr/>
        </p:nvSpPr>
        <p:spPr>
          <a:xfrm>
            <a:off x="4617400" y="3783226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200" dirty="0"/>
          </a:p>
        </p:txBody>
      </p:sp>
      <p:sp>
        <p:nvSpPr>
          <p:cNvPr id="51" name="s5-55-badge"/>
          <p:cNvSpPr/>
          <p:nvPr/>
        </p:nvSpPr>
        <p:spPr>
          <a:xfrm>
            <a:off x="4549972" y="3278636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5-56-badge-n"/>
          <p:cNvSpPr txBox="1"/>
          <p:nvPr/>
        </p:nvSpPr>
        <p:spPr>
          <a:xfrm>
            <a:off x="4549972" y="3278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5-57-arrow"/>
          <p:cNvSpPr/>
          <p:nvPr/>
        </p:nvSpPr>
        <p:spPr>
          <a:xfrm>
            <a:off x="5989000" y="4056059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4" name="s5-58-migration"/>
          <p:cNvSpPr/>
          <p:nvPr/>
        </p:nvSpPr>
        <p:spPr>
          <a:xfrm>
            <a:off x="4687132" y="4354848"/>
            <a:ext cx="2603736" cy="1088447"/>
          </a:xfrm>
          <a:prstGeom prst="roundRect">
            <a:avLst>
              <a:gd name="adj" fmla="val 8401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55" name="s5-59-migration-title"/>
          <p:cNvSpPr txBox="1"/>
          <p:nvPr/>
        </p:nvSpPr>
        <p:spPr>
          <a:xfrm>
            <a:off x="4617400" y="4451321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500" dirty="0"/>
          </a:p>
        </p:txBody>
      </p:sp>
      <p:sp>
        <p:nvSpPr>
          <p:cNvPr id="56" name="s5-60-migration-sub"/>
          <p:cNvSpPr txBox="1"/>
          <p:nvPr/>
        </p:nvSpPr>
        <p:spPr>
          <a:xfrm>
            <a:off x="4617400" y="4711608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200" dirty="0"/>
          </a:p>
        </p:txBody>
      </p:sp>
      <p:sp>
        <p:nvSpPr>
          <p:cNvPr id="57" name="s5-61-migration-p1"/>
          <p:cNvSpPr txBox="1"/>
          <p:nvPr/>
        </p:nvSpPr>
        <p:spPr>
          <a:xfrm>
            <a:off x="4617400" y="495843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all_last · new_last</a:t>
            </a:r>
            <a:endParaRPr lang="en-US" sz="1100" dirty="0"/>
          </a:p>
        </p:txBody>
      </p:sp>
      <p:sp>
        <p:nvSpPr>
          <p:cNvPr id="58" name="s5-62-migration-p2"/>
          <p:cNvSpPr txBox="1"/>
          <p:nvPr/>
        </p:nvSpPr>
        <p:spPr>
          <a:xfrm>
            <a:off x="4617400" y="516118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all_pick · new_pick</a:t>
            </a:r>
            <a:endParaRPr lang="en-US" sz="1100" dirty="0"/>
          </a:p>
        </p:txBody>
      </p:sp>
      <p:sp>
        <p:nvSpPr>
          <p:cNvPr id="59" name="s5-63-badge"/>
          <p:cNvSpPr/>
          <p:nvPr/>
        </p:nvSpPr>
        <p:spPr>
          <a:xfrm>
            <a:off x="4549972" y="4217688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5-64-badge-n"/>
          <p:cNvSpPr txBox="1"/>
          <p:nvPr/>
        </p:nvSpPr>
        <p:spPr>
          <a:xfrm>
            <a:off x="4549972" y="4217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27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8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29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0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1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2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3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4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35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36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5-42-sync"/>
          <p:cNvSpPr/>
          <p:nvPr/>
        </p:nvSpPr>
        <p:spPr>
          <a:xfrm>
            <a:off x="4687132" y="2476744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39" name="s5-43-sync-title"/>
          <p:cNvSpPr txBox="1"/>
          <p:nvPr/>
        </p:nvSpPr>
        <p:spPr>
          <a:xfrm>
            <a:off x="4617400" y="257321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500" dirty="0"/>
          </a:p>
        </p:txBody>
      </p:sp>
      <p:sp>
        <p:nvSpPr>
          <p:cNvPr id="40" name="s5-44-sync-sub"/>
          <p:cNvSpPr txBox="1"/>
          <p:nvPr/>
        </p:nvSpPr>
        <p:spPr>
          <a:xfrm>
            <a:off x="4617400" y="284417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200" dirty="0"/>
          </a:p>
        </p:txBody>
      </p:sp>
      <p:sp>
        <p:nvSpPr>
          <p:cNvPr id="41" name="s5-45-arrow"/>
          <p:cNvSpPr/>
          <p:nvPr/>
        </p:nvSpPr>
        <p:spPr>
          <a:xfrm>
            <a:off x="3609356" y="2796875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42" name="s5-46-lbl"/>
          <p:cNvSpPr txBox="1"/>
          <p:nvPr/>
        </p:nvSpPr>
        <p:spPr>
          <a:xfrm>
            <a:off x="3916439" y="2528627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43" name="s5-47-badge"/>
          <p:cNvSpPr/>
          <p:nvPr/>
        </p:nvSpPr>
        <p:spPr>
          <a:xfrm>
            <a:off x="4549972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5-48-badge-n"/>
          <p:cNvSpPr txBox="1"/>
          <p:nvPr/>
        </p:nvSpPr>
        <p:spPr>
          <a:xfrm>
            <a:off x="4549972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5-49-arrow"/>
          <p:cNvSpPr/>
          <p:nvPr/>
        </p:nvSpPr>
        <p:spPr>
          <a:xfrm>
            <a:off x="3588014" y="3735928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46" name="s5-50-lbl"/>
          <p:cNvSpPr txBox="1"/>
          <p:nvPr/>
        </p:nvSpPr>
        <p:spPr>
          <a:xfrm>
            <a:off x="3650806" y="3467679"/>
            <a:ext cx="962863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version</a:t>
            </a:r>
            <a:endParaRPr lang="en-US" sz="1100" dirty="0"/>
          </a:p>
        </p:txBody>
      </p:sp>
      <p:sp>
        <p:nvSpPr>
          <p:cNvPr id="47" name="s5-51-lbl"/>
          <p:cNvSpPr txBox="1"/>
          <p:nvPr/>
        </p:nvSpPr>
        <p:spPr>
          <a:xfrm>
            <a:off x="3916439" y="376646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48" name="s5-52-import"/>
          <p:cNvSpPr/>
          <p:nvPr/>
        </p:nvSpPr>
        <p:spPr>
          <a:xfrm>
            <a:off x="4687132" y="3415796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49" name="s5-53-import-title"/>
          <p:cNvSpPr txBox="1"/>
          <p:nvPr/>
        </p:nvSpPr>
        <p:spPr>
          <a:xfrm>
            <a:off x="4617400" y="3512268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500" dirty="0"/>
          </a:p>
        </p:txBody>
      </p:sp>
      <p:sp>
        <p:nvSpPr>
          <p:cNvPr id="50" name="s5-54-import-sub"/>
          <p:cNvSpPr txBox="1"/>
          <p:nvPr/>
        </p:nvSpPr>
        <p:spPr>
          <a:xfrm>
            <a:off x="4617400" y="3783226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200" dirty="0"/>
          </a:p>
        </p:txBody>
      </p:sp>
      <p:sp>
        <p:nvSpPr>
          <p:cNvPr id="51" name="s5-55-badge"/>
          <p:cNvSpPr/>
          <p:nvPr/>
        </p:nvSpPr>
        <p:spPr>
          <a:xfrm>
            <a:off x="4549972" y="3278636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5-56-badge-n"/>
          <p:cNvSpPr txBox="1"/>
          <p:nvPr/>
        </p:nvSpPr>
        <p:spPr>
          <a:xfrm>
            <a:off x="4549972" y="3278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5-57-arrow"/>
          <p:cNvSpPr/>
          <p:nvPr/>
        </p:nvSpPr>
        <p:spPr>
          <a:xfrm>
            <a:off x="5989000" y="4056059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4" name="s5-58-migration"/>
          <p:cNvSpPr/>
          <p:nvPr/>
        </p:nvSpPr>
        <p:spPr>
          <a:xfrm>
            <a:off x="4687132" y="4354848"/>
            <a:ext cx="2603736" cy="1088447"/>
          </a:xfrm>
          <a:prstGeom prst="roundRect">
            <a:avLst>
              <a:gd name="adj" fmla="val 8401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55" name="s5-59-migration-title"/>
          <p:cNvSpPr txBox="1"/>
          <p:nvPr/>
        </p:nvSpPr>
        <p:spPr>
          <a:xfrm>
            <a:off x="4617400" y="4451321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500" dirty="0"/>
          </a:p>
        </p:txBody>
      </p:sp>
      <p:sp>
        <p:nvSpPr>
          <p:cNvPr id="56" name="s5-60-migration-sub"/>
          <p:cNvSpPr txBox="1"/>
          <p:nvPr/>
        </p:nvSpPr>
        <p:spPr>
          <a:xfrm>
            <a:off x="4617400" y="4711608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200" dirty="0"/>
          </a:p>
        </p:txBody>
      </p:sp>
      <p:sp>
        <p:nvSpPr>
          <p:cNvPr id="57" name="s5-61-migration-p1"/>
          <p:cNvSpPr txBox="1"/>
          <p:nvPr/>
        </p:nvSpPr>
        <p:spPr>
          <a:xfrm>
            <a:off x="4617400" y="495843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all_last · new_last</a:t>
            </a:r>
            <a:endParaRPr lang="en-US" sz="1100" dirty="0"/>
          </a:p>
        </p:txBody>
      </p:sp>
      <p:sp>
        <p:nvSpPr>
          <p:cNvPr id="58" name="s5-62-migration-p2"/>
          <p:cNvSpPr txBox="1"/>
          <p:nvPr/>
        </p:nvSpPr>
        <p:spPr>
          <a:xfrm>
            <a:off x="4617400" y="516118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all_pick · new_pick</a:t>
            </a:r>
            <a:endParaRPr lang="en-US" sz="1100" dirty="0"/>
          </a:p>
        </p:txBody>
      </p:sp>
      <p:sp>
        <p:nvSpPr>
          <p:cNvPr id="59" name="s5-63-badge"/>
          <p:cNvSpPr/>
          <p:nvPr/>
        </p:nvSpPr>
        <p:spPr>
          <a:xfrm>
            <a:off x="4549972" y="4217688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5-64-badge-n"/>
          <p:cNvSpPr txBox="1"/>
          <p:nvPr/>
        </p:nvSpPr>
        <p:spPr>
          <a:xfrm>
            <a:off x="4549972" y="4217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5-65-arrow"/>
          <p:cNvSpPr/>
          <p:nvPr/>
        </p:nvSpPr>
        <p:spPr>
          <a:xfrm>
            <a:off x="5989000" y="5443295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2" name="s5-66-events"/>
          <p:cNvSpPr/>
          <p:nvPr/>
        </p:nvSpPr>
        <p:spPr>
          <a:xfrm>
            <a:off x="4687132" y="5742085"/>
            <a:ext cx="2603736" cy="629592"/>
          </a:xfrm>
          <a:prstGeom prst="roundRect">
            <a:avLst>
              <a:gd name="adj" fmla="val 1452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63" name="s5-67-events-title"/>
          <p:cNvSpPr txBox="1"/>
          <p:nvPr/>
        </p:nvSpPr>
        <p:spPr>
          <a:xfrm>
            <a:off x="4617400" y="582788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</a:t>
            </a:r>
            <a:endParaRPr lang="en-US" sz="1500" dirty="0"/>
          </a:p>
        </p:txBody>
      </p:sp>
      <p:sp>
        <p:nvSpPr>
          <p:cNvPr id="64" name="s5-68-events-sub"/>
          <p:cNvSpPr txBox="1"/>
          <p:nvPr/>
        </p:nvSpPr>
        <p:spPr>
          <a:xfrm>
            <a:off x="4617400" y="609884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pricing changes</a:t>
            </a:r>
            <a:endParaRPr lang="en-US" sz="1200" dirty="0"/>
          </a:p>
        </p:txBody>
      </p:sp>
      <p:sp>
        <p:nvSpPr>
          <p:cNvPr id="65" name="s5-69-badge"/>
          <p:cNvSpPr/>
          <p:nvPr/>
        </p:nvSpPr>
        <p:spPr>
          <a:xfrm>
            <a:off x="4549972" y="5604925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5-70-badge-n"/>
          <p:cNvSpPr txBox="1"/>
          <p:nvPr/>
        </p:nvSpPr>
        <p:spPr>
          <a:xfrm>
            <a:off x="4549972" y="56049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5-1-acto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2447" y="684008"/>
            <a:ext cx="603504" cy="603504"/>
          </a:xfrm>
          <a:prstGeom prst="rect">
            <a:avLst/>
          </a:prstGeom>
        </p:spPr>
      </p:pic>
      <p:sp>
        <p:nvSpPr>
          <p:cNvPr id="3" name="s5-2-actor-name"/>
          <p:cNvSpPr txBox="1"/>
          <p:nvPr/>
        </p:nvSpPr>
        <p:spPr>
          <a:xfrm>
            <a:off x="951159" y="132427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pPr algn="ctr" indent="0" marL="0">
              <a:buNone/>
            </a:pPr>
            <a:endParaRPr lang="en-US" sz="1200" dirty="0"/>
          </a:p>
        </p:txBody>
      </p:sp>
      <p:sp>
        <p:nvSpPr>
          <p:cNvPr id="4" name="s5-3-tm"/>
          <p:cNvSpPr/>
          <p:nvPr/>
        </p:nvSpPr>
        <p:spPr>
          <a:xfrm>
            <a:off x="8176565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EAF6F0"/>
          </a:solidFill>
          <a:ln w="25400">
            <a:solidFill>
              <a:srgbClr val="2F9E6E"/>
            </a:solidFill>
            <a:prstDash val="solid"/>
          </a:ln>
        </p:spPr>
      </p:sp>
      <p:sp>
        <p:nvSpPr>
          <p:cNvPr id="5" name="s5-4-tm-head"/>
          <p:cNvSpPr txBox="1"/>
          <p:nvPr/>
        </p:nvSpPr>
        <p:spPr>
          <a:xfrm>
            <a:off x="8347302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37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TomatoMeter</a:t>
            </a:r>
            <a:endParaRPr lang="en-US" sz="1800" dirty="0"/>
          </a:p>
        </p:txBody>
      </p:sp>
      <p:sp>
        <p:nvSpPr>
          <p:cNvPr id="6" name="s5-5-tm-role"/>
          <p:cNvSpPr txBox="1"/>
          <p:nvPr/>
        </p:nvSpPr>
        <p:spPr>
          <a:xfrm>
            <a:off x="8347302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application</a:t>
            </a:r>
            <a:endParaRPr lang="en-US" sz="1200" dirty="0"/>
          </a:p>
        </p:txBody>
      </p:sp>
      <p:sp>
        <p:nvSpPr>
          <p:cNvPr id="7" name="s5-11-sphere"/>
          <p:cNvSpPr/>
          <p:nvPr/>
        </p:nvSpPr>
        <p:spPr>
          <a:xfrm>
            <a:off x="813542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DF1EC"/>
          </a:solidFill>
          <a:ln w="25400">
            <a:solidFill>
              <a:srgbClr val="D9622B"/>
            </a:solidFill>
            <a:prstDash val="solid"/>
          </a:ln>
        </p:spPr>
      </p:sp>
      <p:sp>
        <p:nvSpPr>
          <p:cNvPr id="8" name="s5-12-sphere-head"/>
          <p:cNvSpPr txBox="1"/>
          <p:nvPr/>
        </p:nvSpPr>
        <p:spPr>
          <a:xfrm>
            <a:off x="984278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SPHERE</a:t>
            </a:r>
            <a:endParaRPr lang="en-US" sz="1800" dirty="0"/>
          </a:p>
        </p:txBody>
      </p:sp>
      <p:sp>
        <p:nvSpPr>
          <p:cNvPr id="9" name="s5-13-sphere-role"/>
          <p:cNvSpPr txBox="1"/>
          <p:nvPr/>
        </p:nvSpPr>
        <p:spPr>
          <a:xfrm>
            <a:off x="984278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design</a:t>
            </a:r>
            <a:endParaRPr lang="en-US" sz="1200" dirty="0"/>
          </a:p>
        </p:txBody>
      </p:sp>
      <p:sp>
        <p:nvSpPr>
          <p:cNvPr id="10" name="s5-14-sphere-api"/>
          <p:cNvSpPr/>
          <p:nvPr/>
        </p:nvSpPr>
        <p:spPr>
          <a:xfrm>
            <a:off x="3374593" y="2476744"/>
            <a:ext cx="213421" cy="3894933"/>
          </a:xfrm>
          <a:prstGeom prst="roundRect">
            <a:avLst>
              <a:gd name="adj" fmla="val 21422"/>
            </a:avLst>
          </a:prstGeom>
          <a:solidFill>
            <a:srgbClr val="D9622B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11" name="s5-15-sphere-api-label"/>
          <p:cNvSpPr txBox="1"/>
          <p:nvPr/>
        </p:nvSpPr>
        <p:spPr>
          <a:xfrm>
            <a:off x="3374593" y="2476744"/>
            <a:ext cx="213421" cy="389493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API</a:t>
            </a:r>
            <a:endParaRPr lang="en-US" sz="1200" dirty="0"/>
          </a:p>
        </p:txBody>
      </p:sp>
      <p:sp>
        <p:nvSpPr>
          <p:cNvPr id="12" name="s5-16-space"/>
          <p:cNvSpPr/>
          <p:nvPr/>
        </p:nvSpPr>
        <p:spPr>
          <a:xfrm>
            <a:off x="4495053" y="1783126"/>
            <a:ext cx="2987893" cy="4801972"/>
          </a:xfrm>
          <a:prstGeom prst="roundRect">
            <a:avLst>
              <a:gd name="adj" fmla="val 4284"/>
            </a:avLst>
          </a:prstGeom>
          <a:solidFill>
            <a:srgbClr val="F0EEFD"/>
          </a:solidFill>
          <a:ln w="25400">
            <a:solidFill>
              <a:srgbClr val="5A4FCF"/>
            </a:solidFill>
            <a:prstDash val="solid"/>
          </a:ln>
        </p:spPr>
      </p:sp>
      <p:sp>
        <p:nvSpPr>
          <p:cNvPr id="13" name="s5-17-space-head"/>
          <p:cNvSpPr txBox="1"/>
          <p:nvPr/>
        </p:nvSpPr>
        <p:spPr>
          <a:xfrm>
            <a:off x="4665790" y="1854074"/>
            <a:ext cx="2743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A40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</a:t>
            </a:r>
            <a:endParaRPr lang="en-US" sz="1800" dirty="0"/>
          </a:p>
        </p:txBody>
      </p:sp>
      <p:sp>
        <p:nvSpPr>
          <p:cNvPr id="14" name="s5-18-space-role"/>
          <p:cNvSpPr txBox="1"/>
          <p:nvPr/>
        </p:nvSpPr>
        <p:spPr>
          <a:xfrm>
            <a:off x="4665790" y="2139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enforcement</a:t>
            </a:r>
            <a:endParaRPr lang="en-US" sz="1200" dirty="0"/>
          </a:p>
        </p:txBody>
      </p:sp>
      <p:sp>
        <p:nvSpPr>
          <p:cNvPr id="15" name="s5-19-frontend"/>
          <p:cNvSpPr/>
          <p:nvPr/>
        </p:nvSpPr>
        <p:spPr>
          <a:xfrm>
            <a:off x="8368644" y="2476744"/>
            <a:ext cx="2368973" cy="746973"/>
          </a:xfrm>
          <a:prstGeom prst="roundRect">
            <a:avLst>
              <a:gd name="adj" fmla="val 12241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6" name="s5-20-frontend-title"/>
          <p:cNvSpPr txBox="1"/>
          <p:nvPr/>
        </p:nvSpPr>
        <p:spPr>
          <a:xfrm>
            <a:off x="8181530" y="2637242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(UI)</a:t>
            </a:r>
            <a:endParaRPr lang="en-US" sz="1500" dirty="0"/>
          </a:p>
        </p:txBody>
      </p:sp>
      <p:sp>
        <p:nvSpPr>
          <p:cNvPr id="17" name="s5-21-backend"/>
          <p:cNvSpPr/>
          <p:nvPr/>
        </p:nvSpPr>
        <p:spPr>
          <a:xfrm>
            <a:off x="8368644" y="4610953"/>
            <a:ext cx="2368973" cy="800329"/>
          </a:xfrm>
          <a:prstGeom prst="roundRect">
            <a:avLst>
              <a:gd name="adj" fmla="val 11425"/>
            </a:avLst>
          </a:prstGeom>
          <a:solidFill>
            <a:srgbClr val="FFFFFF"/>
          </a:solidFill>
          <a:ln w="15875">
            <a:solidFill>
              <a:srgbClr val="2F9E6E"/>
            </a:solidFill>
            <a:prstDash val="solid"/>
          </a:ln>
        </p:spPr>
      </p:sp>
      <p:sp>
        <p:nvSpPr>
          <p:cNvPr id="18" name="s5-22-backend-title"/>
          <p:cNvSpPr txBox="1"/>
          <p:nvPr/>
        </p:nvSpPr>
        <p:spPr>
          <a:xfrm>
            <a:off x="8181530" y="479279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(API)</a:t>
            </a:r>
            <a:endParaRPr lang="en-US" sz="1500" dirty="0"/>
          </a:p>
        </p:txBody>
      </p:sp>
      <p:sp>
        <p:nvSpPr>
          <p:cNvPr id="19" name="s5-23-arrow"/>
          <p:cNvSpPr/>
          <p:nvPr/>
        </p:nvSpPr>
        <p:spPr>
          <a:xfrm>
            <a:off x="2414199" y="1623060"/>
            <a:ext cx="0" cy="832342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0" name="s5-24-editor"/>
          <p:cNvSpPr/>
          <p:nvPr/>
        </p:nvSpPr>
        <p:spPr>
          <a:xfrm>
            <a:off x="1005621" y="2476744"/>
            <a:ext cx="2176894" cy="853684"/>
          </a:xfrm>
          <a:prstGeom prst="roundRect">
            <a:avLst>
              <a:gd name="adj" fmla="val 10711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1" name="s5-25-editor-title"/>
          <p:cNvSpPr txBox="1"/>
          <p:nvPr/>
        </p:nvSpPr>
        <p:spPr>
          <a:xfrm>
            <a:off x="722467" y="2658584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editor</a:t>
            </a:r>
            <a:endParaRPr lang="en-US" sz="1500" dirty="0"/>
          </a:p>
        </p:txBody>
      </p:sp>
      <p:sp>
        <p:nvSpPr>
          <p:cNvPr id="22" name="s5-26-editor-sub"/>
          <p:cNvSpPr txBox="1"/>
          <p:nvPr/>
        </p:nvSpPr>
        <p:spPr>
          <a:xfrm>
            <a:off x="722467" y="2950885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or YAML editing</a:t>
            </a:r>
            <a:endParaRPr lang="en-US" sz="1200" dirty="0"/>
          </a:p>
        </p:txBody>
      </p:sp>
      <p:sp>
        <p:nvSpPr>
          <p:cNvPr id="23" name="s5-27-badge"/>
          <p:cNvSpPr/>
          <p:nvPr/>
        </p:nvSpPr>
        <p:spPr>
          <a:xfrm>
            <a:off x="868461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5-28-badge-n"/>
          <p:cNvSpPr txBox="1"/>
          <p:nvPr/>
        </p:nvSpPr>
        <p:spPr>
          <a:xfrm>
            <a:off x="868461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5-29-arrow"/>
          <p:cNvSpPr/>
          <p:nvPr/>
        </p:nvSpPr>
        <p:spPr>
          <a:xfrm>
            <a:off x="2094067" y="3330428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26" name="s5-30-lbl"/>
          <p:cNvSpPr txBox="1"/>
          <p:nvPr/>
        </p:nvSpPr>
        <p:spPr>
          <a:xfrm>
            <a:off x="2212610" y="3510363"/>
            <a:ext cx="659282" cy="237744"/>
          </a:xfrm>
          <a:prstGeom prst="rect">
            <a:avLst/>
          </a:prstGeom>
          <a:solidFill>
            <a:srgbClr val="FDF1E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</a:t>
            </a:r>
            <a:endParaRPr lang="en-US" sz="1100" dirty="0"/>
          </a:p>
        </p:txBody>
      </p:sp>
      <p:sp>
        <p:nvSpPr>
          <p:cNvPr id="27" name="s5-31-history"/>
          <p:cNvSpPr/>
          <p:nvPr/>
        </p:nvSpPr>
        <p:spPr>
          <a:xfrm>
            <a:off x="1005621" y="3970691"/>
            <a:ext cx="2176894" cy="1600657"/>
          </a:xfrm>
          <a:prstGeom prst="roundRect">
            <a:avLst>
              <a:gd name="adj" fmla="val 5713"/>
            </a:avLst>
          </a:prstGeom>
          <a:solidFill>
            <a:srgbClr val="FFFFFF"/>
          </a:solidFill>
          <a:ln w="15875">
            <a:solidFill>
              <a:srgbClr val="D9622B"/>
            </a:solidFill>
            <a:prstDash val="solid"/>
          </a:ln>
        </p:spPr>
      </p:sp>
      <p:sp>
        <p:nvSpPr>
          <p:cNvPr id="28" name="s5-32-history-title"/>
          <p:cNvSpPr txBox="1"/>
          <p:nvPr/>
        </p:nvSpPr>
        <p:spPr>
          <a:xfrm>
            <a:off x="722467" y="4088505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history</a:t>
            </a:r>
            <a:endParaRPr lang="en-US" sz="1500" dirty="0"/>
          </a:p>
        </p:txBody>
      </p:sp>
      <p:sp>
        <p:nvSpPr>
          <p:cNvPr id="29" name="s5-33-version"/>
          <p:cNvSpPr/>
          <p:nvPr/>
        </p:nvSpPr>
        <p:spPr>
          <a:xfrm>
            <a:off x="1176357" y="4418875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0" name="s5-34-version-label"/>
          <p:cNvSpPr txBox="1"/>
          <p:nvPr/>
        </p:nvSpPr>
        <p:spPr>
          <a:xfrm>
            <a:off x="1304410" y="4466173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v1.0</a:t>
            </a:r>
            <a:endParaRPr lang="en-US" sz="1200" dirty="0"/>
          </a:p>
        </p:txBody>
      </p:sp>
      <p:sp>
        <p:nvSpPr>
          <p:cNvPr id="31" name="s5-35-version"/>
          <p:cNvSpPr/>
          <p:nvPr/>
        </p:nvSpPr>
        <p:spPr>
          <a:xfrm>
            <a:off x="1176357" y="4781690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DF1EC"/>
          </a:solidFill>
          <a:ln w="9525">
            <a:solidFill>
              <a:srgbClr val="E7A383"/>
            </a:solidFill>
            <a:prstDash val="solid"/>
          </a:ln>
        </p:spPr>
      </p:sp>
      <p:sp>
        <p:nvSpPr>
          <p:cNvPr id="32" name="s5-36-version-label"/>
          <p:cNvSpPr txBox="1"/>
          <p:nvPr/>
        </p:nvSpPr>
        <p:spPr>
          <a:xfrm>
            <a:off x="1304410" y="4828989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v1.1</a:t>
            </a:r>
            <a:endParaRPr lang="en-US" sz="1200" dirty="0"/>
          </a:p>
        </p:txBody>
      </p:sp>
      <p:sp>
        <p:nvSpPr>
          <p:cNvPr id="33" name="s5-37-version-new"/>
          <p:cNvSpPr/>
          <p:nvPr/>
        </p:nvSpPr>
        <p:spPr>
          <a:xfrm>
            <a:off x="1176357" y="5144506"/>
            <a:ext cx="1835420" cy="277447"/>
          </a:xfrm>
          <a:prstGeom prst="roundRect">
            <a:avLst>
              <a:gd name="adj" fmla="val 16479"/>
            </a:avLst>
          </a:prstGeom>
          <a:solidFill>
            <a:srgbClr val="FBE0D3"/>
          </a:solidFill>
          <a:ln w="22225">
            <a:solidFill>
              <a:srgbClr val="D9622B"/>
            </a:solidFill>
            <a:prstDash val="solid"/>
          </a:ln>
        </p:spPr>
      </p:sp>
      <p:sp>
        <p:nvSpPr>
          <p:cNvPr id="34" name="s5-38-version-new-label"/>
          <p:cNvSpPr txBox="1"/>
          <p:nvPr/>
        </p:nvSpPr>
        <p:spPr>
          <a:xfrm>
            <a:off x="1304410" y="5191805"/>
            <a:ext cx="9144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v1.2</a:t>
            </a:r>
            <a:endParaRPr lang="en-US" sz="1200" dirty="0"/>
          </a:p>
        </p:txBody>
      </p:sp>
      <p:sp>
        <p:nvSpPr>
          <p:cNvPr id="35" name="s5-39-version-new-tag"/>
          <p:cNvSpPr txBox="1"/>
          <p:nvPr/>
        </p:nvSpPr>
        <p:spPr>
          <a:xfrm>
            <a:off x="2335085" y="5191805"/>
            <a:ext cx="54864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B84D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1200" dirty="0"/>
          </a:p>
        </p:txBody>
      </p:sp>
      <p:sp>
        <p:nvSpPr>
          <p:cNvPr id="36" name="s5-40-badge"/>
          <p:cNvSpPr/>
          <p:nvPr/>
        </p:nvSpPr>
        <p:spPr>
          <a:xfrm>
            <a:off x="868461" y="3833531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5-41-badge-n"/>
          <p:cNvSpPr txBox="1"/>
          <p:nvPr/>
        </p:nvSpPr>
        <p:spPr>
          <a:xfrm>
            <a:off x="868461" y="38335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8" name="s5-42-sync"/>
          <p:cNvSpPr/>
          <p:nvPr/>
        </p:nvSpPr>
        <p:spPr>
          <a:xfrm>
            <a:off x="4687132" y="2476744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39" name="s5-43-sync-title"/>
          <p:cNvSpPr txBox="1"/>
          <p:nvPr/>
        </p:nvSpPr>
        <p:spPr>
          <a:xfrm>
            <a:off x="4617400" y="257321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worker</a:t>
            </a:r>
            <a:endParaRPr lang="en-US" sz="1500" dirty="0"/>
          </a:p>
        </p:txBody>
      </p:sp>
      <p:sp>
        <p:nvSpPr>
          <p:cNvPr id="40" name="s5-44-sync-sub"/>
          <p:cNvSpPr txBox="1"/>
          <p:nvPr/>
        </p:nvSpPr>
        <p:spPr>
          <a:xfrm>
            <a:off x="4617400" y="284417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polls every N minutes</a:t>
            </a:r>
            <a:endParaRPr lang="en-US" sz="1200" dirty="0"/>
          </a:p>
        </p:txBody>
      </p:sp>
      <p:sp>
        <p:nvSpPr>
          <p:cNvPr id="41" name="s5-45-arrow"/>
          <p:cNvSpPr/>
          <p:nvPr/>
        </p:nvSpPr>
        <p:spPr>
          <a:xfrm>
            <a:off x="3609356" y="2796875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dash"/>
            <a:headEnd type="triangle"/>
          </a:ln>
        </p:spPr>
      </p:sp>
      <p:sp>
        <p:nvSpPr>
          <p:cNvPr id="42" name="s5-46-lbl"/>
          <p:cNvSpPr txBox="1"/>
          <p:nvPr/>
        </p:nvSpPr>
        <p:spPr>
          <a:xfrm>
            <a:off x="3916439" y="2528627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</a:t>
            </a:r>
            <a:endParaRPr lang="en-US" sz="1100" dirty="0"/>
          </a:p>
        </p:txBody>
      </p:sp>
      <p:sp>
        <p:nvSpPr>
          <p:cNvPr id="43" name="s5-47-badge"/>
          <p:cNvSpPr/>
          <p:nvPr/>
        </p:nvSpPr>
        <p:spPr>
          <a:xfrm>
            <a:off x="4549972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5-48-badge-n"/>
          <p:cNvSpPr txBox="1"/>
          <p:nvPr/>
        </p:nvSpPr>
        <p:spPr>
          <a:xfrm>
            <a:off x="4549972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45" name="s5-49-arrow"/>
          <p:cNvSpPr/>
          <p:nvPr/>
        </p:nvSpPr>
        <p:spPr>
          <a:xfrm>
            <a:off x="3588014" y="3735928"/>
            <a:ext cx="1077776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46" name="s5-50-lbl"/>
          <p:cNvSpPr txBox="1"/>
          <p:nvPr/>
        </p:nvSpPr>
        <p:spPr>
          <a:xfrm>
            <a:off x="3650806" y="3467679"/>
            <a:ext cx="962863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version</a:t>
            </a:r>
            <a:endParaRPr lang="en-US" sz="1100" dirty="0"/>
          </a:p>
        </p:txBody>
      </p:sp>
      <p:sp>
        <p:nvSpPr>
          <p:cNvPr id="47" name="s5-51-lbl"/>
          <p:cNvSpPr txBox="1"/>
          <p:nvPr/>
        </p:nvSpPr>
        <p:spPr>
          <a:xfrm>
            <a:off x="3916439" y="3766468"/>
            <a:ext cx="431597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</a:t>
            </a:r>
            <a:endParaRPr lang="en-US" sz="1100" dirty="0"/>
          </a:p>
        </p:txBody>
      </p:sp>
      <p:sp>
        <p:nvSpPr>
          <p:cNvPr id="48" name="s5-52-import"/>
          <p:cNvSpPr/>
          <p:nvPr/>
        </p:nvSpPr>
        <p:spPr>
          <a:xfrm>
            <a:off x="4687132" y="3415796"/>
            <a:ext cx="2603736" cy="640263"/>
          </a:xfrm>
          <a:prstGeom prst="roundRect">
            <a:avLst>
              <a:gd name="adj" fmla="val 14282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49" name="s5-53-import-title"/>
          <p:cNvSpPr txBox="1"/>
          <p:nvPr/>
        </p:nvSpPr>
        <p:spPr>
          <a:xfrm>
            <a:off x="4617400" y="3512268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import</a:t>
            </a:r>
            <a:endParaRPr lang="en-US" sz="1500" dirty="0"/>
          </a:p>
        </p:txBody>
      </p:sp>
      <p:sp>
        <p:nvSpPr>
          <p:cNvPr id="50" name="s5-54-import-sub"/>
          <p:cNvSpPr txBox="1"/>
          <p:nvPr/>
        </p:nvSpPr>
        <p:spPr>
          <a:xfrm>
            <a:off x="4617400" y="3783226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hash · validate</a:t>
            </a:r>
            <a:endParaRPr lang="en-US" sz="1200" dirty="0"/>
          </a:p>
        </p:txBody>
      </p:sp>
      <p:sp>
        <p:nvSpPr>
          <p:cNvPr id="51" name="s5-55-badge"/>
          <p:cNvSpPr/>
          <p:nvPr/>
        </p:nvSpPr>
        <p:spPr>
          <a:xfrm>
            <a:off x="4549972" y="3278636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s5-56-badge-n"/>
          <p:cNvSpPr txBox="1"/>
          <p:nvPr/>
        </p:nvSpPr>
        <p:spPr>
          <a:xfrm>
            <a:off x="4549972" y="3278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3" name="s5-57-arrow"/>
          <p:cNvSpPr/>
          <p:nvPr/>
        </p:nvSpPr>
        <p:spPr>
          <a:xfrm>
            <a:off x="5989000" y="4056059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54" name="s5-58-migration"/>
          <p:cNvSpPr/>
          <p:nvPr/>
        </p:nvSpPr>
        <p:spPr>
          <a:xfrm>
            <a:off x="4687132" y="4354848"/>
            <a:ext cx="2603736" cy="1088447"/>
          </a:xfrm>
          <a:prstGeom prst="roundRect">
            <a:avLst>
              <a:gd name="adj" fmla="val 8401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55" name="s5-59-migration-title"/>
          <p:cNvSpPr txBox="1"/>
          <p:nvPr/>
        </p:nvSpPr>
        <p:spPr>
          <a:xfrm>
            <a:off x="4617400" y="4451321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migration</a:t>
            </a:r>
            <a:endParaRPr lang="en-US" sz="1500" dirty="0"/>
          </a:p>
        </p:txBody>
      </p:sp>
      <p:sp>
        <p:nvSpPr>
          <p:cNvPr id="56" name="s5-60-migration-sub"/>
          <p:cNvSpPr txBox="1"/>
          <p:nvPr/>
        </p:nvSpPr>
        <p:spPr>
          <a:xfrm>
            <a:off x="4617400" y="4711608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configured policy</a:t>
            </a:r>
            <a:endParaRPr lang="en-US" sz="1200" dirty="0"/>
          </a:p>
        </p:txBody>
      </p:sp>
      <p:sp>
        <p:nvSpPr>
          <p:cNvPr id="57" name="s5-61-migration-p1"/>
          <p:cNvSpPr txBox="1"/>
          <p:nvPr/>
        </p:nvSpPr>
        <p:spPr>
          <a:xfrm>
            <a:off x="4617400" y="495843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all_last · new_last</a:t>
            </a:r>
            <a:endParaRPr lang="en-US" sz="1100" dirty="0"/>
          </a:p>
        </p:txBody>
      </p:sp>
      <p:sp>
        <p:nvSpPr>
          <p:cNvPr id="58" name="s5-62-migration-p2"/>
          <p:cNvSpPr txBox="1"/>
          <p:nvPr/>
        </p:nvSpPr>
        <p:spPr>
          <a:xfrm>
            <a:off x="4617400" y="5161186"/>
            <a:ext cx="2743200" cy="181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3A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all_pick · new_pick</a:t>
            </a:r>
            <a:endParaRPr lang="en-US" sz="1100" dirty="0"/>
          </a:p>
        </p:txBody>
      </p:sp>
      <p:sp>
        <p:nvSpPr>
          <p:cNvPr id="59" name="s5-63-badge"/>
          <p:cNvSpPr/>
          <p:nvPr/>
        </p:nvSpPr>
        <p:spPr>
          <a:xfrm>
            <a:off x="4549972" y="4217688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s5-64-badge-n"/>
          <p:cNvSpPr txBox="1"/>
          <p:nvPr/>
        </p:nvSpPr>
        <p:spPr>
          <a:xfrm>
            <a:off x="4549972" y="4217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5-65-arrow"/>
          <p:cNvSpPr/>
          <p:nvPr/>
        </p:nvSpPr>
        <p:spPr>
          <a:xfrm>
            <a:off x="5989000" y="5443295"/>
            <a:ext cx="0" cy="277447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tailEnd type="triangle"/>
          </a:ln>
        </p:spPr>
      </p:sp>
      <p:sp>
        <p:nvSpPr>
          <p:cNvPr id="62" name="s5-66-events"/>
          <p:cNvSpPr/>
          <p:nvPr/>
        </p:nvSpPr>
        <p:spPr>
          <a:xfrm>
            <a:off x="4687132" y="5742085"/>
            <a:ext cx="2603736" cy="629592"/>
          </a:xfrm>
          <a:prstGeom prst="roundRect">
            <a:avLst>
              <a:gd name="adj" fmla="val 14524"/>
            </a:avLst>
          </a:prstGeom>
          <a:solidFill>
            <a:srgbClr val="FFFFFF"/>
          </a:solidFill>
          <a:ln w="15875">
            <a:solidFill>
              <a:srgbClr val="5A4FCF"/>
            </a:solidFill>
            <a:prstDash val="solid"/>
          </a:ln>
        </p:spPr>
      </p:sp>
      <p:sp>
        <p:nvSpPr>
          <p:cNvPr id="63" name="s5-67-events-title"/>
          <p:cNvSpPr txBox="1"/>
          <p:nvPr/>
        </p:nvSpPr>
        <p:spPr>
          <a:xfrm>
            <a:off x="4617400" y="5827886"/>
            <a:ext cx="27432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service</a:t>
            </a:r>
            <a:endParaRPr lang="en-US" sz="1500" dirty="0"/>
          </a:p>
        </p:txBody>
      </p:sp>
      <p:sp>
        <p:nvSpPr>
          <p:cNvPr id="64" name="s5-68-events-sub"/>
          <p:cNvSpPr txBox="1"/>
          <p:nvPr/>
        </p:nvSpPr>
        <p:spPr>
          <a:xfrm>
            <a:off x="4617400" y="609884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notifies pricing changes</a:t>
            </a:r>
            <a:endParaRPr lang="en-US" sz="1200" dirty="0"/>
          </a:p>
        </p:txBody>
      </p:sp>
      <p:sp>
        <p:nvSpPr>
          <p:cNvPr id="65" name="s5-69-badge"/>
          <p:cNvSpPr/>
          <p:nvPr/>
        </p:nvSpPr>
        <p:spPr>
          <a:xfrm>
            <a:off x="4549972" y="5604925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s5-70-badge-n"/>
          <p:cNvSpPr txBox="1"/>
          <p:nvPr/>
        </p:nvSpPr>
        <p:spPr>
          <a:xfrm>
            <a:off x="4549972" y="56049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7" name="s5-71-ws-1"/>
          <p:cNvSpPr/>
          <p:nvPr/>
        </p:nvSpPr>
        <p:spPr>
          <a:xfrm>
            <a:off x="7290868" y="6051545"/>
            <a:ext cx="3660169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68" name="s5-72-ws-2"/>
          <p:cNvSpPr/>
          <p:nvPr/>
        </p:nvSpPr>
        <p:spPr>
          <a:xfrm>
            <a:off x="10951037" y="2850231"/>
            <a:ext cx="0" cy="3201314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</a:ln>
        </p:spPr>
      </p:sp>
      <p:sp>
        <p:nvSpPr>
          <p:cNvPr id="69" name="s5-73-ws-3"/>
          <p:cNvSpPr/>
          <p:nvPr/>
        </p:nvSpPr>
        <p:spPr>
          <a:xfrm>
            <a:off x="10758958" y="2850231"/>
            <a:ext cx="192079" cy="0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70" name="s5-74-ws-dot"/>
          <p:cNvSpPr/>
          <p:nvPr/>
        </p:nvSpPr>
        <p:spPr>
          <a:xfrm>
            <a:off x="9507410" y="6005825"/>
            <a:ext cx="91440" cy="91440"/>
          </a:xfrm>
          <a:prstGeom prst="ellipse">
            <a:avLst/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71" name="s5-75-ws-backend"/>
          <p:cNvSpPr/>
          <p:nvPr/>
        </p:nvSpPr>
        <p:spPr>
          <a:xfrm>
            <a:off x="9553130" y="5432624"/>
            <a:ext cx="0" cy="618921"/>
          </a:xfrm>
          <a:prstGeom prst="line">
            <a:avLst/>
          </a:prstGeom>
          <a:noFill/>
          <a:ln w="22225">
            <a:solidFill>
              <a:srgbClr val="2B2B2B"/>
            </a:solidFill>
            <a:prstDash val="solid"/>
            <a:headEnd type="triangle"/>
          </a:ln>
        </p:spPr>
      </p:sp>
      <p:sp>
        <p:nvSpPr>
          <p:cNvPr id="72" name="s5-76-lbl"/>
          <p:cNvSpPr txBox="1"/>
          <p:nvPr/>
        </p:nvSpPr>
        <p:spPr>
          <a:xfrm>
            <a:off x="8292694" y="5670652"/>
            <a:ext cx="1153516" cy="237744"/>
          </a:xfrm>
          <a:prstGeom prst="rect">
            <a:avLst/>
          </a:prstGeom>
          <a:solidFill>
            <a:srgbClr val="EAF6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Events(WebSocket)</a:t>
            </a:r>
            <a:endParaRPr lang="en-US" sz="1100" dirty="0"/>
          </a:p>
        </p:txBody>
      </p:sp>
      <p:sp>
        <p:nvSpPr>
          <p:cNvPr id="73" name="s5-77-frontend-sub"/>
          <p:cNvSpPr txBox="1"/>
          <p:nvPr/>
        </p:nvSpPr>
        <p:spPr>
          <a:xfrm>
            <a:off x="8181530" y="2929543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components</a:t>
            </a:r>
            <a:endParaRPr lang="en-US" sz="1200" dirty="0"/>
          </a:p>
        </p:txBody>
      </p:sp>
      <p:sp>
        <p:nvSpPr>
          <p:cNvPr id="74" name="s5-78-backend-sub"/>
          <p:cNvSpPr txBox="1"/>
          <p:nvPr/>
        </p:nvSpPr>
        <p:spPr>
          <a:xfrm>
            <a:off x="8181530" y="5085094"/>
            <a:ext cx="27432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business logic</a:t>
            </a:r>
            <a:endParaRPr lang="en-US" sz="1200" dirty="0"/>
          </a:p>
        </p:txBody>
      </p:sp>
      <p:sp>
        <p:nvSpPr>
          <p:cNvPr id="75" name="s5-79-badge"/>
          <p:cNvSpPr/>
          <p:nvPr/>
        </p:nvSpPr>
        <p:spPr>
          <a:xfrm>
            <a:off x="8231484" y="2339584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6" name="s5-80-badge-n"/>
          <p:cNvSpPr txBox="1"/>
          <p:nvPr/>
        </p:nvSpPr>
        <p:spPr>
          <a:xfrm>
            <a:off x="8231484" y="23395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77" name="s5-81-badge"/>
          <p:cNvSpPr/>
          <p:nvPr/>
        </p:nvSpPr>
        <p:spPr>
          <a:xfrm>
            <a:off x="8231484" y="4473793"/>
            <a:ext cx="274320" cy="274320"/>
          </a:xfrm>
          <a:prstGeom prst="ellipse">
            <a:avLst/>
          </a:prstGeom>
          <a:solidFill>
            <a:srgbClr val="1D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8" name="s5-82-badge-n"/>
          <p:cNvSpPr txBox="1"/>
          <p:nvPr/>
        </p:nvSpPr>
        <p:spPr>
          <a:xfrm>
            <a:off x="8231484" y="447379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Pricing-driven self-adaptation · demo diagrams</dc:title>
  <dc:subject>PptxGenJS Presentation</dc:subject>
  <dc:creator>ICSOC 2026 demo</dc:creator>
  <cp:lastModifiedBy>ICSOC 2026 demo</cp:lastModifiedBy>
  <cp:revision>1</cp:revision>
  <dcterms:created xsi:type="dcterms:W3CDTF">2026-10-13T18:12:58Z</dcterms:created>
  <dcterms:modified xsi:type="dcterms:W3CDTF">2026-10-13T18:12:58Z</dcterms:modified>
</cp:coreProperties>
</file>